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d5ed699ccc4ac7" /><Relationship Type="http://schemas.openxmlformats.org/officeDocument/2006/relationships/extended-properties" Target="/docProps/app.xml" Id="R84d2b31a202d4cb1" /><Relationship Type="http://schemas.openxmlformats.org/officeDocument/2006/relationships/officeDocument" Target="/ppt/presentation.xml" Id="Rc7cb1aa8d4ae45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7f96cf4a3c4066"/>
  </p:sldMasterIdLst>
  <p:notesMasterIdLst>
    <p:notesMasterId xmlns:r="http://schemas.openxmlformats.org/officeDocument/2006/relationships" r:id="R9626989156e047e7"/>
  </p:notesMasterIdLst>
  <p:sldIdLst>
    <p:sldId xmlns:r="http://schemas.openxmlformats.org/officeDocument/2006/relationships" id="256" r:id="Rcf9f32f5bfe940d9"/>
    <p:sldId xmlns:r="http://schemas.openxmlformats.org/officeDocument/2006/relationships" id="257" r:id="R210ae5f0aaff43ea"/>
    <p:sldId xmlns:r="http://schemas.openxmlformats.org/officeDocument/2006/relationships" id="258" r:id="rId2"/>
    <p:sldId xmlns:r="http://schemas.openxmlformats.org/officeDocument/2006/relationships" id="259" r:id="R72980a0bb84f4475"/>
    <p:sldId xmlns:r="http://schemas.openxmlformats.org/officeDocument/2006/relationships" id="260" r:id="R78cd29de57ce4044"/>
    <p:sldId xmlns:r="http://schemas.openxmlformats.org/officeDocument/2006/relationships" id="261" r:id="Re37a90d3e89a4bf1"/>
    <p:sldId xmlns:r="http://schemas.openxmlformats.org/officeDocument/2006/relationships" id="262" r:id="R0a19dcb5c4e64a46"/>
    <p:sldId xmlns:r="http://schemas.openxmlformats.org/officeDocument/2006/relationships" id="263" r:id="Rb51aab30981d47f3"/>
    <p:sldId xmlns:r="http://schemas.openxmlformats.org/officeDocument/2006/relationships" id="264" r:id="rId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?><Relationships xmlns="http://schemas.openxmlformats.org/package/2006/relationships"><Relationship Type="http://schemas.openxmlformats.org/officeDocument/2006/relationships/theme" Target="/ppt/theme/theme1.xml" Id="Rad84d0a7097d4ac8"/><Relationship Type="http://schemas.openxmlformats.org/officeDocument/2006/relationships/slideMaster" Target="/ppt/slideMasters/slideMaster1.xml" Id="Ree7f96cf4a3c4066"/><Relationship Type="http://schemas.openxmlformats.org/officeDocument/2006/relationships/notesMaster" Target="/ppt/notesMasters/notesMaster1.xml" Id="R9626989156e047e7"/><Relationship Type="http://schemas.openxmlformats.org/officeDocument/2006/relationships/presProps" Target="/ppt/presProps.xml" Id="R819f826f25ad447d"/><Relationship Type="http://schemas.openxmlformats.org/officeDocument/2006/relationships/tableStyles" Target="/ppt/tableStyles.xml" Id="R5619cdb1304e48d2"/><Relationship Type="http://schemas.openxmlformats.org/officeDocument/2006/relationships/slide" Target="/ppt/slides/slide1.xml" Id="Rcf9f32f5bfe940d9"/><Relationship Type="http://schemas.openxmlformats.org/officeDocument/2006/relationships/slide" Target="/ppt/slides/slide2.xml" Id="R210ae5f0aaff43ea"/><Relationship Type="http://schemas.openxmlformats.org/officeDocument/2006/relationships/slide" Target="/ppt/slides/slide3.xml" Id="R72980a0bb84f4475"/><Relationship Type="http://schemas.openxmlformats.org/officeDocument/2006/relationships/slide" Target="/ppt/slides/slide5.xml" Id="R78cd29de57ce4044"/><Relationship Type="http://schemas.openxmlformats.org/officeDocument/2006/relationships/slide" Target="/ppt/slides/slide6.xml" Id="Re37a90d3e89a4bf1"/><Relationship Type="http://schemas.openxmlformats.org/officeDocument/2006/relationships/slide" Target="/ppt/slides/slide7.xml" Id="R0a19dcb5c4e64a46"/><Relationship Type="http://schemas.openxmlformats.org/officeDocument/2006/relationships/slide" Target="/ppt/slides/slide8.xml" Id="Rb51aab30981d47f3"/>  <Relationship Id="rId1" Type="http://schemas.openxmlformats.org/officeDocument/2006/relationships/slide" Target="slides/slide9.xml"/>
  <Relationship Id="rId2" Type="http://schemas.openxmlformats.org/officeDocument/2006/relationships/slide" Target="slides/slide10.xml"/>
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bdeb181f0c4d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Inter"/>
        <a:ea typeface="Inter"/>
        <a:cs typeface="Inter"/>
      </a:majorFont>
      <a:minorFont>
        <a:latin typeface="Inter"/>
        <a:ea typeface="Inter"/>
        <a:cs typeface="Inter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209f745aef485a" /><Relationship Type="http://schemas.openxmlformats.org/officeDocument/2006/relationships/notesMaster" Target="/ppt/notesMasters/notesMaster1.xml" Id="R1c729f051bf944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5005a8e7e042bb" /><Relationship Type="http://schemas.openxmlformats.org/officeDocument/2006/relationships/notesMaster" Target="/ppt/notesMasters/notesMaster1.xml" Id="R076d3b5a2d0140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66818e80a648ed" /><Relationship Type="http://schemas.openxmlformats.org/officeDocument/2006/relationships/notesMaster" Target="/ppt/notesMasters/notesMaster1.xml" Id="R588de771c79f49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9b6ebb4ec84aad" /><Relationship Type="http://schemas.openxmlformats.org/officeDocument/2006/relationships/notesMaster" Target="/ppt/notesMasters/notesMaster1.xml" Id="Rdf1e8f444d7d4d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16056f4d81e415f" /><Relationship Type="http://schemas.openxmlformats.org/officeDocument/2006/relationships/notesMaster" Target="/ppt/notesMasters/notesMaster1.xml" Id="R9e3870ac468a41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c1d1eb99b04312" /><Relationship Type="http://schemas.openxmlformats.org/officeDocument/2006/relationships/notesMaster" Target="/ppt/notesMasters/notesMaster1.xml" Id="R8f572baa8a8f46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b040e79b8540e7" /><Relationship Type="http://schemas.openxmlformats.org/officeDocument/2006/relationships/notesMaster" Target="/ppt/notesMasters/notesMaster1.xml" Id="R1f2f9c9d060f45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46218be7a04c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4705037c8a44ef" /><Relationship Type="http://schemas.openxmlformats.org/officeDocument/2006/relationships/slideLayout" Target="/ppt/slideLayouts/slideLayout1.xml" Id="R5dcb0f7ce44a4f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cb0f7ce44a4f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Inter"/>
        <a:ea typeface="Inter"/>
        <a:cs typeface="Inter"/>
      </a:majorFont>
      <a:minorFont>
        <a:latin typeface="Inter"/>
        <a:ea typeface="Inter"/>
        <a:cs typeface="Inter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fa57fedf043b3" /><Relationship Type="http://schemas.openxmlformats.org/officeDocument/2006/relationships/image" Target="/ppt/media/image.png" Id="Rcdfea45334f84ea5" /><Relationship Type="http://schemas.openxmlformats.org/officeDocument/2006/relationships/image" Target="/ppt/media/image2.png" Id="R675a268b3cd44231" /><Relationship Type="http://schemas.openxmlformats.org/officeDocument/2006/relationships/image" Target="/ppt/media/image3.png" Id="R6df4971958b54d2e" /><Relationship Type="http://schemas.openxmlformats.org/officeDocument/2006/relationships/notesSlide" Target="/ppt/notesSlides/notesSlide1.xml" Id="R7a1dcc0f7acd46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0e446535504a90" /><Relationship Type="http://schemas.openxmlformats.org/officeDocument/2006/relationships/image" Target="/ppt/media/image4.png" Id="R892c96610caa4945" /><Relationship Type="http://schemas.openxmlformats.org/officeDocument/2006/relationships/image" Target="/ppt/media/image5.png" Id="Rab010e95464b4b73" /><Relationship Type="http://schemas.openxmlformats.org/officeDocument/2006/relationships/notesSlide" Target="/ppt/notesSlides/notesSlide2.xml" Id="R699e873fd46d4d64" /><Relationship Id="rPh_mateo" Type="http://schemas.openxmlformats.org/officeDocument/2006/relationships/image" Target="/ppt/media/team_mateo.png" /><Relationship Id="rPh_carlos" Type="http://schemas.openxmlformats.org/officeDocument/2006/relationships/image" Target="/ppt/media/team_carlos.png" /><Relationship Id="rPh_fabio" Type="http://schemas.openxmlformats.org/officeDocument/2006/relationships/image" Target="/ppt/media/team_fabio.png" /><Relationship Id="rPh_juandavid" Type="http://schemas.openxmlformats.org/officeDocument/2006/relationships/image" Target="/ppt/media/team_juandavid.png" /><Relationship Id="rPh_juanjose" Type="http://schemas.openxmlformats.org/officeDocument/2006/relationships/image" Target="/ppt/media/team_juanjose.png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9744b5c8e4403" /><Relationship Type="http://schemas.openxmlformats.org/officeDocument/2006/relationships/image" Target="/ppt/media/image6.png" Id="Ra114d251b4194a37" /><Relationship Type="http://schemas.openxmlformats.org/officeDocument/2006/relationships/image" Target="/ppt/media/image7.png" Id="R3323cb76ffb14c8d" /><Relationship Type="http://schemas.openxmlformats.org/officeDocument/2006/relationships/notesSlide" Target="/ppt/notesSlides/notesSlide3.xml" Id="Rc1029f283ba44743" /><Relationship Id="rD_app" Type="http://schemas.openxmlformats.org/officeDocument/2006/relationships/hyperlink" Target="https://www.galeon.finance" TargetMode="External" /><Relationship Id="rD_entry" Type="http://schemas.openxmlformats.org/officeDocument/2006/relationships/hyperlink" Target="https://mantlescan.xyz/address/0x8633518fbbf23E78586F1456530c3452885efb21" TargetMode="External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dd6d4f24724690" /><Relationship Type="http://schemas.openxmlformats.org/officeDocument/2006/relationships/image" Target="/ppt/media/image10.png" Id="R723075fb5988445b" /><Relationship Type="http://schemas.openxmlformats.org/officeDocument/2006/relationships/image" Target="/ppt/media/image11.png" Id="R4b8301adf253448c" /><Relationship Type="http://schemas.openxmlformats.org/officeDocument/2006/relationships/notesSlide" Target="/ppt/notesSlides/notesSlide5.xml" Id="R377d477e3e3f4908" /><Relationship Id="rL_repo" Type="http://schemas.openxmlformats.org/officeDocument/2006/relationships/hyperlink" Target="https://github.com/mateodaza/galeon" TargetMode="External" /><Relationship Id="rL_mscan" Type="http://schemas.openxmlformats.org/officeDocument/2006/relationships/hyperlink" Target="https://mantlescan.xyz" TargetMode="External" /><Relationship Id="rL_stealth" Type="http://schemas.openxmlformats.org/officeDocument/2006/relationships/hyperlink" Target="https://github.com/mateodaza/galeon/tree/main/packages/stealth" TargetMode="External" /><Relationship Id="rL_pool" Type="http://schemas.openxmlformats.org/officeDocument/2006/relationships/hyperlink" Target="https://github.com/mateodaza/galeon/tree/main/packages/pool" TargetMode="External" /><Relationship Id="rL_contracts" Type="http://schemas.openxmlformats.org/officeDocument/2006/relationships/hyperlink" Target="https://github.com/mateodaza/galeon/tree/main/packages/contracts" TargetMode="External" /><Relationship Id="rL_apps" Type="http://schemas.openxmlformats.org/officeDocument/2006/relationships/hyperlink" Target="https://github.com/mateodaza/galeon/tree/main/apps" TargetMode="External" /><Relationship Id="rL_entry" Type="http://schemas.openxmlformats.org/officeDocument/2006/relationships/hyperlink" Target="https://mantlescan.xyz/address/0x8633518fbbf23E78586F1456530c3452885efb21" TargetMode="External" /><Relationship Id="rL_poola" Type="http://schemas.openxmlformats.org/officeDocument/2006/relationships/hyperlink" Target="https://mantlescan.xyz/address/0xE271335D1FCa02b6c219B9944f0a4921aFD559C0" TargetMode="External" /><Relationship Id="rL_reg" Type="http://schemas.openxmlformats.org/officeDocument/2006/relationships/hyperlink" Target="https://mantlescan.xyz/address/0x9bcDb96a9Ff9b492e07f9E4909DF143266271e9D" TargetMode="External" /><Relationship Id="rL_ann" Type="http://schemas.openxmlformats.org/officeDocument/2006/relationships/hyperlink" Target="https://mantlescan.xyz/address/0x8C04238c49e22EB687ad706bEe645698ccF41153" TargetMode="External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fdaa492d94849" /><Relationship Type="http://schemas.openxmlformats.org/officeDocument/2006/relationships/image" Target="/ppt/media/image12.png" Id="Rf20870b999244db7" /><Relationship Type="http://schemas.openxmlformats.org/officeDocument/2006/relationships/image" Target="/ppt/media/image13.png" Id="R99eab8053b65400f" /><Relationship Type="http://schemas.openxmlformats.org/officeDocument/2006/relationships/notesSlide" Target="/ppt/notesSlides/notesSlide6.xml" Id="R469af92a126042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e4bc029c14431d" /><Relationship Type="http://schemas.openxmlformats.org/officeDocument/2006/relationships/image" Target="/ppt/media/image14.png" Id="Recf95f9438b744cc" /><Relationship Type="http://schemas.openxmlformats.org/officeDocument/2006/relationships/image" Target="/ppt/media/image15.png" Id="R9ffb3e37758a4a3e" /><Relationship Type="http://schemas.openxmlformats.org/officeDocument/2006/relationships/notesSlide" Target="/ppt/notesSlides/notesSlide7.xml" Id="R0320a98b3d25498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eb74ec0d34eca" /><Relationship Type="http://schemas.openxmlformats.org/officeDocument/2006/relationships/image" Target="/ppt/media/image16.png" Id="R3d4e2fac494a4eb7" /><Relationship Type="http://schemas.openxmlformats.org/officeDocument/2006/relationships/image" Target="/ppt/media/image17.png" Id="R97aaa87c20104c78" /><Relationship Type="http://schemas.openxmlformats.org/officeDocument/2006/relationships/notesSlide" Target="/ppt/notesSlides/notesSlide8.xml" Id="R2ece13a687d0414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fdaa492d94849" /><Relationship Type="http://schemas.openxmlformats.org/officeDocument/2006/relationships/image" Target="/ppt/media/image12.png" Id="Rf20870b999244db7" /><Relationship Type="http://schemas.openxmlformats.org/officeDocument/2006/relationships/image" Target="/ppt/media/image13.png" Id="R99eab8053b65400f" /><Relationship Id="rC_app" Type="http://schemas.openxmlformats.org/officeDocument/2006/relationships/hyperlink" Target="https://www.galeon.finance" TargetMode="External" /><Relationship Id="rC_repo" Type="http://schemas.openxmlformats.org/officeDocument/2006/relationships/hyperlink" Target="https://github.com/mateodaza/galeon" TargetMode="External" /><Relationship Id="rC_entry" Type="http://schemas.openxmlformats.org/officeDocument/2006/relationships/hyperlink" Target="https://mantlescan.xyz/address/0x8633518fbbf23E78586F1456530c3452885efb21" TargetMode="External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fdaa492d94849" /><Relationship Type="http://schemas.openxmlformats.org/officeDocument/2006/relationships/image" Target="/ppt/media/image12.png" Id="Rf20870b999244db7" /><Relationship Type="http://schemas.openxmlformats.org/officeDocument/2006/relationships/image" Target="/ppt/media/image13.png" Id="R99eab8053b65400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fea45334f84ea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540AC-31F0-4BCE-9BA2-276D8D04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2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76A99E-24F8-4413-916C-86E3FB3B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a268b3cd44231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0B5915-58ED-4E3F-B353-4CE15EFC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9FD9C3-E269-476A-8467-3F32CA63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15B540-AE05-4041-9B6B-8BBB6BBA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1 / 9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f4971958b54d2e"/>
          <a:stretch xmlns:a="http://schemas.openxmlformats.org/drawingml/2006/main"/>
        </p:blipFill>
        <p:spPr>
          <a:xfrm xmlns:a="http://schemas.openxmlformats.org/drawingml/2006/main">
            <a:off x="5467350" y="1181100"/>
            <a:ext cx="1257300" cy="12573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3298DD-AD9D-4CBD-A4F6-86C9AABE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24125"/>
            <a:ext cx="685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2E5888-72CD-487C-B021-BE8E45C2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71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325" b="0">
                <a:solidFill>
                  <a:srgbClr val="D5E6EC"/>
                </a:solidFill>
              </a:defRPr>
            </a:pPr>
            <a:r>
              <a:rPr sz="2325" b="0">
                <a:solidFill>
                  <a:srgbClr val="D5E6EC"/>
                </a:solidFill>
              </a:rPr>
              <a:t>Private payments for public blockchains.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34A50B-16C5-43B3-B366-9A844F36B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171950"/>
            <a:ext cx="61722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020B18">
              <a:alpha val="56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DCBFC3-8111-46A1-A6E7-3690FF41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352925"/>
            <a:ext cx="5562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Public accountability without public beneficiary histories.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99D8C6-27F9-47D1-B59E-49BA7B80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334000"/>
            <a:ext cx="628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9EEBF2"/>
                </a:solidFill>
              </a:defRPr>
            </a:pPr>
            <a:r>
              <a:rPr sz="1050" b="0">
                <a:solidFill>
                  <a:srgbClr val="9EEBF2"/>
                </a:solidFill>
              </a:rPr>
              <a:t>Open source  ·  Cartagena On Chain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21005112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2c96610caa494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45113B-25A7-4A91-982A-005B290B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5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845DD-58AA-431C-9286-BA7280D5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010e95464b4b73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27D48-CC95-4265-8222-C348D624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994F6C-902A-461E-8D04-66677921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4F28EF-D55A-4313-8D43-342A69FC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2 / 9</a:t>
            </a:r>
          </a:p>
        </p:txBody>
      </p:sp>
      <p:sp xmlns:a="http://schemas.openxmlformats.org/drawingml/2006/main" xmlns:r="http://schemas.openxmlformats.org/officeDocument/2006/relationships">
        <p:nvSpPr>
          <p:cNvPr id="200" name="title"/>
          <p:cNvSpPr>
            <a:spLocks noGrp="1"/>
          </p:cNvSpPr>
          <p:nvPr/>
        </p:nvSpPr>
        <p:spPr>
          <a:xfrm>
            <a:off x="800100" y="786384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Team</a:t>
            </a:r>
          </a:p>
        </p:txBody>
      </p:sp>
      <p:sp xmlns:a="http://schemas.openxmlformats.org/drawingml/2006/main">
        <p:nvSpPr>
          <p:cNvPr id="201" name="card"/>
          <p:cNvSpPr>
            <a:spLocks noGrp="1"/>
          </p:cNvSpPr>
          <p:nvPr/>
        </p:nvSpPr>
        <p:spPr>
          <a:xfrm>
            <a:off x="800100" y="1783080"/>
            <a:ext cx="10588752" cy="288036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pic xmlns:a="http://schemas.openxmlformats.org/drawingml/2006/main" xmlns:r="http://schemas.openxmlformats.org/officeDocument/2006/relationships">
        <p:nvPicPr>
          <p:cNvPr id="210" name="photo"/>
          <p:cNvPicPr>
            <a:picLocks noChangeAspect="1"/>
          </p:cNvPicPr>
          <p:nvPr/>
        </p:nvPicPr>
        <p:blipFill>
          <a:blip r:embed="rPh_mateo"/>
          <a:stretch>
            <a:fillRect/>
          </a:stretch>
        </p:blipFill>
        <p:spPr>
          <a:xfrm>
            <a:off x="1333195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11" name="nm"/>
          <p:cNvSpPr>
            <a:spLocks noGrp="1"/>
          </p:cNvSpPr>
          <p:nvPr/>
        </p:nvSpPr>
        <p:spPr>
          <a:xfrm>
            <a:off x="761695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Mateo Daza</a:t>
            </a:r>
          </a:p>
        </p:txBody>
      </p:sp>
      <p:sp xmlns:a="http://schemas.openxmlformats.org/drawingml/2006/main" xmlns:r="http://schemas.openxmlformats.org/officeDocument/2006/relationships">
        <p:nvSpPr>
          <p:cNvPr id="212" name="rl"/>
          <p:cNvSpPr>
            <a:spLocks noGrp="1"/>
          </p:cNvSpPr>
          <p:nvPr/>
        </p:nvSpPr>
        <p:spPr>
          <a:xfrm>
            <a:off x="807415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Product + frontend</a:t>
            </a:r>
          </a:p>
        </p:txBody>
      </p:sp>
      <p:pic xmlns:a="http://schemas.openxmlformats.org/drawingml/2006/main" xmlns:r="http://schemas.openxmlformats.org/officeDocument/2006/relationships">
        <p:nvPicPr>
          <p:cNvPr id="213" name="photo"/>
          <p:cNvPicPr>
            <a:picLocks noChangeAspect="1"/>
          </p:cNvPicPr>
          <p:nvPr/>
        </p:nvPicPr>
        <p:blipFill>
          <a:blip r:embed="rPh_carlos"/>
          <a:stretch>
            <a:fillRect/>
          </a:stretch>
        </p:blipFill>
        <p:spPr>
          <a:xfrm>
            <a:off x="3450946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14" name="nm"/>
          <p:cNvSpPr>
            <a:spLocks noGrp="1"/>
          </p:cNvSpPr>
          <p:nvPr/>
        </p:nvSpPr>
        <p:spPr>
          <a:xfrm>
            <a:off x="2879446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Carlos Quintero</a:t>
            </a:r>
          </a:p>
        </p:txBody>
      </p:sp>
      <p:sp xmlns:a="http://schemas.openxmlformats.org/drawingml/2006/main" xmlns:r="http://schemas.openxmlformats.org/officeDocument/2006/relationships">
        <p:nvSpPr>
          <p:cNvPr id="215" name="rl"/>
          <p:cNvSpPr>
            <a:spLocks noGrp="1"/>
          </p:cNvSpPr>
          <p:nvPr/>
        </p:nvSpPr>
        <p:spPr>
          <a:xfrm>
            <a:off x="2925166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Backend + protocol · Lead developer</a:t>
            </a:r>
          </a:p>
        </p:txBody>
      </p:sp>
      <p:pic xmlns:a="http://schemas.openxmlformats.org/drawingml/2006/main" xmlns:r="http://schemas.openxmlformats.org/officeDocument/2006/relationships">
        <p:nvPicPr>
          <p:cNvPr id="216" name="photo"/>
          <p:cNvPicPr>
            <a:picLocks noChangeAspect="1"/>
          </p:cNvPicPr>
          <p:nvPr/>
        </p:nvPicPr>
        <p:blipFill>
          <a:blip r:embed="rPh_fabio"/>
          <a:stretch>
            <a:fillRect/>
          </a:stretch>
        </p:blipFill>
        <p:spPr>
          <a:xfrm>
            <a:off x="5568696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17" name="nm"/>
          <p:cNvSpPr>
            <a:spLocks noGrp="1"/>
          </p:cNvSpPr>
          <p:nvPr/>
        </p:nvSpPr>
        <p:spPr>
          <a:xfrm>
            <a:off x="4997196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Fabio Anaya</a:t>
            </a:r>
          </a:p>
        </p:txBody>
      </p:sp>
      <p:sp xmlns:a="http://schemas.openxmlformats.org/drawingml/2006/main" xmlns:r="http://schemas.openxmlformats.org/officeDocument/2006/relationships">
        <p:nvSpPr>
          <p:cNvPr id="218" name="rl"/>
          <p:cNvSpPr>
            <a:spLocks noGrp="1"/>
          </p:cNvSpPr>
          <p:nvPr/>
        </p:nvSpPr>
        <p:spPr>
          <a:xfrm>
            <a:off x="5042916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Growth + partnerships</a:t>
            </a:r>
          </a:p>
        </p:txBody>
      </p:sp>
      <p:pic xmlns:a="http://schemas.openxmlformats.org/drawingml/2006/main" xmlns:r="http://schemas.openxmlformats.org/officeDocument/2006/relationships">
        <p:nvPicPr>
          <p:cNvPr id="219" name="photo"/>
          <p:cNvPicPr>
            <a:picLocks noChangeAspect="1"/>
          </p:cNvPicPr>
          <p:nvPr/>
        </p:nvPicPr>
        <p:blipFill>
          <a:blip r:embed="rPh_juandavid"/>
          <a:stretch>
            <a:fillRect/>
          </a:stretch>
        </p:blipFill>
        <p:spPr>
          <a:xfrm>
            <a:off x="7686446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20" name="nm"/>
          <p:cNvSpPr>
            <a:spLocks noGrp="1"/>
          </p:cNvSpPr>
          <p:nvPr/>
        </p:nvSpPr>
        <p:spPr>
          <a:xfrm>
            <a:off x="7114946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Juan David Correa</a:t>
            </a:r>
          </a:p>
        </p:txBody>
      </p:sp>
      <p:sp xmlns:a="http://schemas.openxmlformats.org/drawingml/2006/main" xmlns:r="http://schemas.openxmlformats.org/officeDocument/2006/relationships">
        <p:nvSpPr>
          <p:cNvPr id="221" name="rl"/>
          <p:cNvSpPr>
            <a:spLocks noGrp="1"/>
          </p:cNvSpPr>
          <p:nvPr/>
        </p:nvSpPr>
        <p:spPr>
          <a:xfrm>
            <a:off x="7160666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Operations</a:t>
            </a:r>
          </a:p>
        </p:txBody>
      </p:sp>
      <p:pic xmlns:a="http://schemas.openxmlformats.org/drawingml/2006/main" xmlns:r="http://schemas.openxmlformats.org/officeDocument/2006/relationships">
        <p:nvPicPr>
          <p:cNvPr id="222" name="photo"/>
          <p:cNvPicPr>
            <a:picLocks noChangeAspect="1"/>
          </p:cNvPicPr>
          <p:nvPr/>
        </p:nvPicPr>
        <p:blipFill>
          <a:blip r:embed="rPh_juanjose"/>
          <a:stretch>
            <a:fillRect/>
          </a:stretch>
        </p:blipFill>
        <p:spPr>
          <a:xfrm>
            <a:off x="9804197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23" name="nm"/>
          <p:cNvSpPr>
            <a:spLocks noGrp="1"/>
          </p:cNvSpPr>
          <p:nvPr/>
        </p:nvSpPr>
        <p:spPr>
          <a:xfrm>
            <a:off x="9232697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Juan José Sanfeliú</a:t>
            </a:r>
          </a:p>
        </p:txBody>
      </p:sp>
      <p:sp xmlns:a="http://schemas.openxmlformats.org/drawingml/2006/main" xmlns:r="http://schemas.openxmlformats.org/officeDocument/2006/relationships">
        <p:nvSpPr>
          <p:cNvPr id="224" name="rl"/>
          <p:cNvSpPr>
            <a:spLocks noGrp="1"/>
          </p:cNvSpPr>
          <p:nvPr/>
        </p:nvSpPr>
        <p:spPr>
          <a:xfrm>
            <a:off x="9278417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Marketing + community</a:t>
            </a:r>
          </a:p>
        </p:txBody>
      </p:sp>
      <p:sp xmlns:a="http://schemas.openxmlformats.org/drawingml/2006/main" xmlns:r="http://schemas.openxmlformats.org/officeDocument/2006/relationships">
        <p:nvSpPr>
          <p:cNvPr id="230" name="orglbl"/>
          <p:cNvSpPr>
            <a:spLocks noGrp="1"/>
          </p:cNvSpPr>
          <p:nvPr/>
        </p:nvSpPr>
        <p:spPr>
          <a:xfrm>
            <a:off x="800100" y="4983480"/>
            <a:ext cx="10588752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CARTAGENA ON CHAIN · CARTAGENA, COLOMBIA</a:t>
            </a:r>
          </a:p>
        </p:txBody>
      </p:sp>
      <p:sp xmlns:a="http://schemas.openxmlformats.org/drawingml/2006/main" xmlns:r="http://schemas.openxmlformats.org/officeDocument/2006/relationships">
        <p:nvSpPr>
          <p:cNvPr id="231" name="orgtxt"/>
          <p:cNvSpPr>
            <a:spLocks noGrp="1"/>
          </p:cNvSpPr>
          <p:nvPr/>
        </p:nvSpPr>
        <p:spPr>
          <a:xfrm>
            <a:off x="800100" y="5276088"/>
            <a:ext cx="10588752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0">
                <a:solidFill>
                  <a:srgbClr val="FFFFFF"/>
                </a:solidFill>
              </a:rPr>
              <a:t xml:space="preserve">Applicant and operator for the funded year.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07883712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14d251b4194a3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743501-15E3-4431-9902-6F347135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1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5B5951-2E78-4B89-80C5-B3CD13B02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23cb76ffb14c8d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45D872-FFEE-4DBB-9BA3-2F29131E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EBF411-1CC1-4DEE-9A4D-B6042DBE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95AC73-17B3-45FC-A13F-FD5B7319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4 / 9</a:t>
            </a:r>
          </a:p>
        </p:txBody>
      </p:sp>
      <p:sp xmlns:a="http://schemas.openxmlformats.org/drawingml/2006/main" xmlns:r="http://schemas.openxmlformats.org/officeDocument/2006/relationships">
        <p:nvSpPr>
          <p:cNvPr id="300" name="title"/>
          <p:cNvSpPr>
            <a:spLocks noGrp="1"/>
          </p:cNvSpPr>
          <p:nvPr/>
        </p:nvSpPr>
        <p:spPr>
          <a:xfrm>
            <a:off x="800100" y="786384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Privacy in three layers.</a:t>
            </a:r>
          </a:p>
        </p:txBody>
      </p:sp>
      <p:sp xmlns:a="http://schemas.openxmlformats.org/drawingml/2006/main" xmlns:r="http://schemas.openxmlformats.org/officeDocument/2006/relationships">
        <p:nvSpPr>
          <p:cNvPr id="301" name="sub"/>
          <p:cNvSpPr>
            <a:spLocks noGrp="1"/>
          </p:cNvSpPr>
          <p:nvPr/>
        </p:nvSpPr>
        <p:spPr>
          <a:xfrm>
            <a:off x="800100" y="1444752"/>
            <a:ext cx="10588752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500" b="0">
                <a:solidFill>
                  <a:srgbClr val="D5E6EC"/>
                </a:solidFill>
              </a:rPr>
              <a:t xml:space="preserve">Receiver privacy, transaction privacy, and policy, each with its own control.</a:t>
            </a:r>
          </a:p>
        </p:txBody>
      </p:sp>
      <p:sp xmlns:a="http://schemas.openxmlformats.org/drawingml/2006/main">
        <p:nvSpPr>
          <p:cNvPr id="302" name="card"/>
          <p:cNvSpPr>
            <a:spLocks noGrp="1"/>
          </p:cNvSpPr>
          <p:nvPr/>
        </p:nvSpPr>
        <p:spPr>
          <a:xfrm>
            <a:off x="800100" y="2029968"/>
            <a:ext cx="10588752" cy="210312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310" name="num"/>
          <p:cNvSpPr>
            <a:spLocks noGrp="1"/>
          </p:cNvSpPr>
          <p:nvPr/>
        </p:nvSpPr>
        <p:spPr>
          <a:xfrm>
            <a:off x="1216152" y="2340864"/>
            <a:ext cx="306324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1">
                <a:solidFill>
                  <a:srgbClr val="38E2F2"/>
                </a:solidFill>
              </a:rPr>
              <a:t xml:space="preserve">01</a:t>
            </a:r>
          </a:p>
        </p:txBody>
      </p:sp>
      <p:sp xmlns:a="http://schemas.openxmlformats.org/drawingml/2006/main" xmlns:r="http://schemas.openxmlformats.org/officeDocument/2006/relationships">
        <p:nvSpPr>
          <p:cNvPr id="311" name="hdr"/>
          <p:cNvSpPr>
            <a:spLocks noGrp="1"/>
          </p:cNvSpPr>
          <p:nvPr/>
        </p:nvSpPr>
        <p:spPr>
          <a:xfrm>
            <a:off x="1216152" y="2706624"/>
            <a:ext cx="3063240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900" b="1">
                <a:solidFill>
                  <a:srgbClr val="FFFFFF"/>
                </a:solidFill>
              </a:rPr>
              <a:t xml:space="preserve">Ports</a:t>
            </a:r>
          </a:p>
        </p:txBody>
      </p:sp>
      <p:sp xmlns:a="http://schemas.openxmlformats.org/drawingml/2006/main" xmlns:r="http://schemas.openxmlformats.org/officeDocument/2006/relationships">
        <p:nvSpPr>
          <p:cNvPr id="312" name="desc"/>
          <p:cNvSpPr>
            <a:spLocks noGrp="1"/>
          </p:cNvSpPr>
          <p:nvPr/>
        </p:nvSpPr>
        <p:spPr>
          <a:xfrm>
            <a:off x="1216152" y="3200400"/>
            <a:ext cx="3063240" cy="8229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A fresh stealth address for every payment.</a:t>
            </a:r>
          </a:p>
        </p:txBody>
      </p:sp>
      <p:sp xmlns:a="http://schemas.openxmlformats.org/drawingml/2006/main">
        <p:nvSpPr>
          <p:cNvPr id="313" name="rule"/>
          <p:cNvSpPr>
            <a:spLocks noGrp="1"/>
          </p:cNvSpPr>
          <p:nvPr/>
        </p:nvSpPr>
        <p:spPr>
          <a:xfrm>
            <a:off x="4443984" y="2377440"/>
            <a:ext cx="9510" cy="141732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314" name="num"/>
          <p:cNvSpPr>
            <a:spLocks noGrp="1"/>
          </p:cNvSpPr>
          <p:nvPr/>
        </p:nvSpPr>
        <p:spPr>
          <a:xfrm>
            <a:off x="4764024" y="2340864"/>
            <a:ext cx="306324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1">
                <a:solidFill>
                  <a:srgbClr val="38E2F2"/>
                </a:solidFill>
              </a:rPr>
              <a:t xml:space="preserve">02</a:t>
            </a:r>
          </a:p>
        </p:txBody>
      </p:sp>
      <p:sp xmlns:a="http://schemas.openxmlformats.org/drawingml/2006/main" xmlns:r="http://schemas.openxmlformats.org/officeDocument/2006/relationships">
        <p:nvSpPr>
          <p:cNvPr id="315" name="hdr"/>
          <p:cNvSpPr>
            <a:spLocks noGrp="1"/>
          </p:cNvSpPr>
          <p:nvPr/>
        </p:nvSpPr>
        <p:spPr>
          <a:xfrm>
            <a:off x="4764024" y="2706624"/>
            <a:ext cx="3063240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900" b="1">
                <a:solidFill>
                  <a:srgbClr val="FFFFFF"/>
                </a:solidFill>
              </a:rPr>
              <a:t xml:space="preserve">Privacy Pool</a:t>
            </a:r>
          </a:p>
        </p:txBody>
      </p:sp>
      <p:sp xmlns:a="http://schemas.openxmlformats.org/drawingml/2006/main" xmlns:r="http://schemas.openxmlformats.org/officeDocument/2006/relationships">
        <p:nvSpPr>
          <p:cNvPr id="316" name="desc"/>
          <p:cNvSpPr>
            <a:spLocks noGrp="1"/>
          </p:cNvSpPr>
          <p:nvPr/>
        </p:nvSpPr>
        <p:spPr>
          <a:xfrm>
            <a:off x="4764024" y="3200400"/>
            <a:ext cx="3063240" cy="8229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A ZK proof breaks the public deposit-to-withdrawal link.</a:t>
            </a:r>
          </a:p>
        </p:txBody>
      </p:sp>
      <p:sp xmlns:a="http://schemas.openxmlformats.org/drawingml/2006/main">
        <p:nvSpPr>
          <p:cNvPr id="317" name="rule"/>
          <p:cNvSpPr>
            <a:spLocks noGrp="1"/>
          </p:cNvSpPr>
          <p:nvPr/>
        </p:nvSpPr>
        <p:spPr>
          <a:xfrm>
            <a:off x="7991856" y="2377440"/>
            <a:ext cx="9510" cy="141732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318" name="num"/>
          <p:cNvSpPr>
            <a:spLocks noGrp="1"/>
          </p:cNvSpPr>
          <p:nvPr/>
        </p:nvSpPr>
        <p:spPr>
          <a:xfrm>
            <a:off x="8311896" y="2340864"/>
            <a:ext cx="306324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1">
                <a:solidFill>
                  <a:srgbClr val="38E2F2"/>
                </a:solidFill>
              </a:rPr>
              <a:t xml:space="preserve">03</a:t>
            </a:r>
          </a:p>
        </p:txBody>
      </p:sp>
      <p:sp xmlns:a="http://schemas.openxmlformats.org/drawingml/2006/main" xmlns:r="http://schemas.openxmlformats.org/officeDocument/2006/relationships">
        <p:nvSpPr>
          <p:cNvPr id="319" name="hdr"/>
          <p:cNvSpPr>
            <a:spLocks noGrp="1"/>
          </p:cNvSpPr>
          <p:nvPr/>
        </p:nvSpPr>
        <p:spPr>
          <a:xfrm>
            <a:off x="8311896" y="2706624"/>
            <a:ext cx="3063240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900" b="1">
                <a:solidFill>
                  <a:srgbClr val="FFFFFF"/>
                </a:solidFill>
              </a:rPr>
              <a:t xml:space="preserve">ASP</a:t>
            </a:r>
          </a:p>
        </p:txBody>
      </p:sp>
      <p:sp xmlns:a="http://schemas.openxmlformats.org/drawingml/2006/main" xmlns:r="http://schemas.openxmlformats.org/officeDocument/2006/relationships">
        <p:nvSpPr>
          <p:cNvPr id="320" name="desc"/>
          <p:cNvSpPr>
            <a:spLocks noGrp="1"/>
          </p:cNvSpPr>
          <p:nvPr/>
        </p:nvSpPr>
        <p:spPr>
          <a:xfrm>
            <a:off x="8311896" y="3200400"/>
            <a:ext cx="3063240" cy="8229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A policy gate decides which deposits may withdraw privately.</a:t>
            </a:r>
          </a:p>
        </p:txBody>
      </p:sp>
      <p:sp xmlns:a="http://schemas.openxmlformats.org/drawingml/2006/main" xmlns:r="http://schemas.openxmlformats.org/officeDocument/2006/relationships">
        <p:nvSpPr>
          <p:cNvPr id="340" name="dl"/>
          <p:cNvSpPr>
            <a:spLocks noGrp="1"/>
          </p:cNvSpPr>
          <p:nvPr/>
        </p:nvSpPr>
        <p:spPr>
          <a:xfrm>
            <a:off x="800100" y="4407408"/>
            <a:ext cx="365760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LIVE DEMO</a:t>
            </a:r>
          </a:p>
        </p:txBody>
      </p:sp>
      <p:sp xmlns:a="http://schemas.openxmlformats.org/drawingml/2006/main" xmlns:r="http://schemas.openxmlformats.org/officeDocument/2006/relationships">
        <p:nvSpPr>
          <p:cNvPr id="341" name="dlinks"/>
          <p:cNvSpPr>
            <a:spLocks noGrp="1"/>
          </p:cNvSpPr>
          <p:nvPr/>
        </p:nvSpPr>
        <p:spPr>
          <a:xfrm>
            <a:off x="6309360" y="4407408"/>
            <a:ext cx="507492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r"/>
            <a:r>
              <a:rPr sz="1050" b="1">
                <a:solidFill>
                  <a:srgbClr val="9EEBF2"/>
                </a:solidFill>
                <a:hlinkClick r:id="rD_app"/>
              </a:rPr>
              <a:t xml:space="preserve">galeon.finance  ↗</a:t>
            </a:r>
            <a:r>
              <a:rPr sz="1050" b="0">
                <a:solidFill>
                  <a:srgbClr val="91AAB5"/>
                </a:solidFill>
              </a:rPr>
              <a:t xml:space="preserve">     ·     </a:t>
            </a:r>
            <a:r>
              <a:rPr sz="1050" b="1">
                <a:solidFill>
                  <a:srgbClr val="9EEBF2"/>
                </a:solidFill>
                <a:hlinkClick r:id="rD_entry"/>
              </a:rPr>
              <a:t xml:space="preserve">Entrypoint 0x8633…fb21  ↗</a:t>
            </a:r>
          </a:p>
        </p:txBody>
      </p:sp>
      <p:sp xmlns:a="http://schemas.openxmlformats.org/drawingml/2006/main" xmlns:r="http://schemas.openxmlformats.org/officeDocument/2006/relationships">
        <p:nvSpPr>
          <p:cNvPr id="342" name="dt"/>
          <p:cNvSpPr>
            <a:spLocks noGrp="1"/>
          </p:cNvSpPr>
          <p:nvPr/>
        </p:nvSpPr>
        <p:spPr>
          <a:xfrm>
            <a:off x="800100" y="4681728"/>
            <a:ext cx="10588752" cy="5943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400" b="1">
                <a:solidFill>
                  <a:srgbClr val="FFFFFF"/>
                </a:solidFill>
              </a:rPr>
              <a:t xml:space="preserve">One private withdrawal, performed live: a pre-staged deposit, a client-generated ZK proof, and Mantlescan showing the relayer, not the depositor.</a:t>
            </a:r>
          </a:p>
        </p:txBody>
      </p:sp>
      <p:sp xmlns:a="http://schemas.openxmlformats.org/drawingml/2006/main" xmlns:r="http://schemas.openxmlformats.org/officeDocument/2006/relationships">
        <p:nvSpPr>
          <p:cNvPr id="343" name="dh"/>
          <p:cNvSpPr>
            <a:spLocks noGrp="1"/>
          </p:cNvSpPr>
          <p:nvPr/>
        </p:nvSpPr>
        <p:spPr>
          <a:xfrm>
            <a:off x="800100" y="5358384"/>
            <a:ext cx="10588752" cy="3657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150" b="0">
                <a:solidFill>
                  <a:srgbClr val="91AAB5"/>
                </a:solidFill>
              </a:rPr>
              <a:t xml:space="preserve">The recipient and amount remain public. We demonstrate unlinkability, not invisibility.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04465717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3075fb5988445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5C4DE4-841E-4171-B0AD-E410BEA3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A9A0B-B353-4CE2-9A13-12B30C90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8301adf253448c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60F38A-1430-4DAA-A817-D90444BE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547D97-23A5-4850-83E9-25BE7790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186EB4-C3BB-4108-A990-C5817502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5 / 9</a:t>
            </a:r>
          </a:p>
        </p:txBody>
      </p:sp>
      <p:sp xmlns:a="http://schemas.openxmlformats.org/drawingml/2006/main" xmlns:r="http://schemas.openxmlformats.org/officeDocument/2006/relationships">
        <p:nvSpPr>
          <p:cNvPr id="500" name="title"/>
          <p:cNvSpPr>
            <a:spLocks noGrp="1"/>
          </p:cNvSpPr>
          <p:nvPr/>
        </p:nvSpPr>
        <p:spPr>
          <a:xfrm>
            <a:off x="800100" y="713232"/>
            <a:ext cx="10588752" cy="53035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Everything in this demo is open source.</a:t>
            </a:r>
          </a:p>
        </p:txBody>
      </p:sp>
      <p:sp xmlns:a="http://schemas.openxmlformats.org/drawingml/2006/main" xmlns:r="http://schemas.openxmlformats.org/officeDocument/2006/relationships">
        <p:nvSpPr>
          <p:cNvPr id="501" name="sub"/>
          <p:cNvSpPr>
            <a:spLocks noGrp="1"/>
          </p:cNvSpPr>
          <p:nvPr/>
        </p:nvSpPr>
        <p:spPr>
          <a:xfrm>
            <a:off x="800100" y="1316736"/>
            <a:ext cx="10588752" cy="56692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Keys and proofs live in the browser. The backend coordinates but never holds funds. Settlement runs on public smart contracts.</a:t>
            </a:r>
          </a:p>
        </p:txBody>
      </p:sp>
      <p:sp xmlns:a="http://schemas.openxmlformats.org/drawingml/2006/main">
        <p:nvSpPr>
          <p:cNvPr id="502" name="card"/>
          <p:cNvSpPr>
            <a:spLocks noGrp="1"/>
          </p:cNvSpPr>
          <p:nvPr/>
        </p:nvSpPr>
        <p:spPr>
          <a:xfrm>
            <a:off x="800100" y="2011680"/>
            <a:ext cx="10588752" cy="361188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510" name="stat"/>
          <p:cNvSpPr>
            <a:spLocks noGrp="1"/>
          </p:cNvSpPr>
          <p:nvPr/>
        </p:nvSpPr>
        <p:spPr>
          <a:xfrm>
            <a:off x="1216152" y="2304288"/>
            <a:ext cx="3063240" cy="5029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400" b="1">
                <a:solidFill>
                  <a:srgbClr val="38E2F2"/>
                </a:solidFill>
              </a:rPr>
              <a:t xml:space="preserve">537</a:t>
            </a:r>
          </a:p>
        </p:txBody>
      </p:sp>
      <p:sp xmlns:a="http://schemas.openxmlformats.org/drawingml/2006/main" xmlns:r="http://schemas.openxmlformats.org/officeDocument/2006/relationships">
        <p:nvSpPr>
          <p:cNvPr id="511" name="statlbl"/>
          <p:cNvSpPr>
            <a:spLocks noGrp="1"/>
          </p:cNvSpPr>
          <p:nvPr/>
        </p:nvSpPr>
        <p:spPr>
          <a:xfrm>
            <a:off x="1216152" y="2871216"/>
            <a:ext cx="3063240" cy="2743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D5E6EC"/>
                </a:solidFill>
              </a:rPr>
              <a:t xml:space="preserve">automated tests</a:t>
            </a:r>
          </a:p>
        </p:txBody>
      </p:sp>
      <p:sp xmlns:a="http://schemas.openxmlformats.org/drawingml/2006/main" xmlns:r="http://schemas.openxmlformats.org/officeDocument/2006/relationships">
        <p:nvSpPr>
          <p:cNvPr id="512" name="stat"/>
          <p:cNvSpPr>
            <a:spLocks noGrp="1"/>
          </p:cNvSpPr>
          <p:nvPr/>
        </p:nvSpPr>
        <p:spPr>
          <a:xfrm>
            <a:off x="4764024" y="2304288"/>
            <a:ext cx="3063240" cy="5029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400" b="1">
                <a:solidFill>
                  <a:srgbClr val="9EEBF2"/>
                </a:solidFill>
              </a:rPr>
              <a:t xml:space="preserve">3</a:t>
            </a:r>
          </a:p>
        </p:txBody>
      </p:sp>
      <p:sp xmlns:a="http://schemas.openxmlformats.org/drawingml/2006/main" xmlns:r="http://schemas.openxmlformats.org/officeDocument/2006/relationships">
        <p:nvSpPr>
          <p:cNvPr id="513" name="statlbl"/>
          <p:cNvSpPr>
            <a:spLocks noGrp="1"/>
          </p:cNvSpPr>
          <p:nvPr/>
        </p:nvSpPr>
        <p:spPr>
          <a:xfrm>
            <a:off x="4764024" y="2871216"/>
            <a:ext cx="3063240" cy="2743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D5E6EC"/>
                </a:solidFill>
              </a:rPr>
              <a:t xml:space="preserve">upstream Oxorio audits</a:t>
            </a:r>
          </a:p>
        </p:txBody>
      </p:sp>
      <p:sp xmlns:a="http://schemas.openxmlformats.org/drawingml/2006/main" xmlns:r="http://schemas.openxmlformats.org/officeDocument/2006/relationships">
        <p:nvSpPr>
          <p:cNvPr id="514" name="stat"/>
          <p:cNvSpPr>
            <a:spLocks noGrp="1"/>
          </p:cNvSpPr>
          <p:nvPr/>
        </p:nvSpPr>
        <p:spPr>
          <a:xfrm>
            <a:off x="8311896" y="2304288"/>
            <a:ext cx="3063240" cy="5029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400" b="1">
                <a:solidFill>
                  <a:srgbClr val="75E6B5"/>
                </a:solidFill>
              </a:rPr>
              <a:t xml:space="preserve">LIVE</a:t>
            </a:r>
          </a:p>
        </p:txBody>
      </p:sp>
      <p:sp xmlns:a="http://schemas.openxmlformats.org/drawingml/2006/main" xmlns:r="http://schemas.openxmlformats.org/officeDocument/2006/relationships">
        <p:nvSpPr>
          <p:cNvPr id="515" name="statlbl"/>
          <p:cNvSpPr>
            <a:spLocks noGrp="1"/>
          </p:cNvSpPr>
          <p:nvPr/>
        </p:nvSpPr>
        <p:spPr>
          <a:xfrm>
            <a:off x="8311896" y="2871216"/>
            <a:ext cx="3063240" cy="2743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D5E6EC"/>
                </a:solidFill>
              </a:rPr>
              <a:t xml:space="preserve">native MNT on Mantle</a:t>
            </a:r>
          </a:p>
        </p:txBody>
      </p:sp>
      <p:sp xmlns:a="http://schemas.openxmlformats.org/drawingml/2006/main">
        <p:nvSpPr>
          <p:cNvPr id="520" name="rule"/>
          <p:cNvSpPr>
            <a:spLocks noGrp="1"/>
          </p:cNvSpPr>
          <p:nvPr/>
        </p:nvSpPr>
        <p:spPr>
          <a:xfrm>
            <a:off x="1216152" y="3291840"/>
            <a:ext cx="9756648" cy="951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521" name="lh"/>
          <p:cNvSpPr>
            <a:spLocks noGrp="1"/>
          </p:cNvSpPr>
          <p:nvPr/>
        </p:nvSpPr>
        <p:spPr>
          <a:xfrm>
            <a:off x="1216152" y="3438144"/>
            <a:ext cx="457200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IN THE REPOSITORY</a:t>
            </a:r>
          </a:p>
        </p:txBody>
      </p:sp>
      <p:sp xmlns:a="http://schemas.openxmlformats.org/drawingml/2006/main" xmlns:r="http://schemas.openxmlformats.org/officeDocument/2006/relationships">
        <p:nvSpPr>
          <p:cNvPr id="522" name="lrepo"/>
          <p:cNvSpPr>
            <a:spLocks noGrp="1"/>
          </p:cNvSpPr>
          <p:nvPr/>
        </p:nvSpPr>
        <p:spPr>
          <a:xfrm>
            <a:off x="1216152" y="3694176"/>
            <a:ext cx="4572000" cy="24688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9EEBF2"/>
                </a:solidFill>
                <a:hlinkClick r:id="rL_repo"/>
              </a:rPr>
              <a:t xml:space="preserve">github.com/mateodaza/galeon  ↗</a:t>
            </a:r>
          </a:p>
        </p:txBody>
      </p:sp>
      <p:sp xmlns:a="http://schemas.openxmlformats.org/drawingml/2006/main" xmlns:r="http://schemas.openxmlformats.org/officeDocument/2006/relationships">
        <p:nvSpPr>
          <p:cNvPr id="523" name="rh"/>
          <p:cNvSpPr>
            <a:spLocks noGrp="1"/>
          </p:cNvSpPr>
          <p:nvPr/>
        </p:nvSpPr>
        <p:spPr>
          <a:xfrm>
            <a:off x="6355080" y="3438144"/>
            <a:ext cx="457200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ON MANTLE MAINNET</a:t>
            </a:r>
          </a:p>
        </p:txBody>
      </p:sp>
      <p:sp xmlns:a="http://schemas.openxmlformats.org/drawingml/2006/main" xmlns:r="http://schemas.openxmlformats.org/officeDocument/2006/relationships">
        <p:nvSpPr>
          <p:cNvPr id="524" name="rmscan"/>
          <p:cNvSpPr>
            <a:spLocks noGrp="1"/>
          </p:cNvSpPr>
          <p:nvPr/>
        </p:nvSpPr>
        <p:spPr>
          <a:xfrm>
            <a:off x="6355080" y="3694176"/>
            <a:ext cx="4572000" cy="24688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9EEBF2"/>
                </a:solidFill>
                <a:hlinkClick r:id="rL_mscan"/>
              </a:rPr>
              <a:t xml:space="preserve">mantlescan.xyz  ↗</a:t>
            </a:r>
          </a:p>
        </p:txBody>
      </p:sp>
      <p:sp xmlns:a="http://schemas.openxmlformats.org/drawingml/2006/main">
        <p:nvSpPr>
          <p:cNvPr id="525" name="rule"/>
          <p:cNvSpPr>
            <a:spLocks noGrp="1"/>
          </p:cNvSpPr>
          <p:nvPr/>
        </p:nvSpPr>
        <p:spPr>
          <a:xfrm>
            <a:off x="6035040" y="3438144"/>
            <a:ext cx="9510" cy="201168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530" name="row"/>
          <p:cNvSpPr>
            <a:spLocks noGrp="1"/>
          </p:cNvSpPr>
          <p:nvPr/>
        </p:nvSpPr>
        <p:spPr>
          <a:xfrm>
            <a:off x="1216152" y="404164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Stealth library  </a:t>
            </a:r>
            <a:r>
              <a:rPr sz="1050" b="1">
                <a:solidFill>
                  <a:srgbClr val="38E2F2"/>
                </a:solidFill>
                <a:hlinkClick r:id="rL_stealth"/>
              </a:rPr>
              <a:t xml:space="preserve">/packages/stealth</a:t>
            </a:r>
            <a:r>
              <a:rPr sz="950" b="0">
                <a:solidFill>
                  <a:srgbClr val="91AAB5"/>
                </a:solidFill>
              </a:rPr>
              <a:t xml:space="preserve">   EIP-5564 receive</a:t>
            </a:r>
          </a:p>
        </p:txBody>
      </p:sp>
      <p:sp xmlns:a="http://schemas.openxmlformats.org/drawingml/2006/main" xmlns:r="http://schemas.openxmlformats.org/officeDocument/2006/relationships">
        <p:nvSpPr>
          <p:cNvPr id="531" name="row"/>
          <p:cNvSpPr>
            <a:spLocks noGrp="1"/>
          </p:cNvSpPr>
          <p:nvPr/>
        </p:nvSpPr>
        <p:spPr>
          <a:xfrm>
            <a:off x="1216152" y="440740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Privacy Pool SDK  </a:t>
            </a:r>
            <a:r>
              <a:rPr sz="1050" b="1">
                <a:solidFill>
                  <a:srgbClr val="38E2F2"/>
                </a:solidFill>
                <a:hlinkClick r:id="rL_pool"/>
              </a:rPr>
              <a:t xml:space="preserve">/packages/pool</a:t>
            </a:r>
            <a:r>
              <a:rPr sz="950" b="0">
                <a:solidFill>
                  <a:srgbClr val="91AAB5"/>
                </a:solidFill>
              </a:rPr>
              <a:t xml:space="preserve">   ZK proofs, merkle</a:t>
            </a:r>
          </a:p>
        </p:txBody>
      </p:sp>
      <p:sp xmlns:a="http://schemas.openxmlformats.org/drawingml/2006/main" xmlns:r="http://schemas.openxmlformats.org/officeDocument/2006/relationships">
        <p:nvSpPr>
          <p:cNvPr id="532" name="row"/>
          <p:cNvSpPr>
            <a:spLocks noGrp="1"/>
          </p:cNvSpPr>
          <p:nvPr/>
        </p:nvSpPr>
        <p:spPr>
          <a:xfrm>
            <a:off x="1216152" y="477316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Smart contracts  </a:t>
            </a:r>
            <a:r>
              <a:rPr sz="1050" b="1">
                <a:solidFill>
                  <a:srgbClr val="38E2F2"/>
                </a:solidFill>
                <a:hlinkClick r:id="rL_contracts"/>
              </a:rPr>
              <a:t xml:space="preserve">/packages/contracts</a:t>
            </a:r>
            <a:r>
              <a:rPr sz="950" b="0">
                <a:solidFill>
                  <a:srgbClr val="91AAB5"/>
                </a:solidFill>
              </a:rPr>
              <a:t xml:space="preserve">   pool, verifiers</a:t>
            </a:r>
          </a:p>
        </p:txBody>
      </p:sp>
      <p:sp xmlns:a="http://schemas.openxmlformats.org/drawingml/2006/main" xmlns:r="http://schemas.openxmlformats.org/officeDocument/2006/relationships">
        <p:nvSpPr>
          <p:cNvPr id="533" name="row"/>
          <p:cNvSpPr>
            <a:spLocks noGrp="1"/>
          </p:cNvSpPr>
          <p:nvPr/>
        </p:nvSpPr>
        <p:spPr>
          <a:xfrm>
            <a:off x="1216152" y="513892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Web · API · Indexer  </a:t>
            </a:r>
            <a:r>
              <a:rPr sz="1050" b="1">
                <a:solidFill>
                  <a:srgbClr val="38E2F2"/>
                </a:solidFill>
                <a:hlinkClick r:id="rL_apps"/>
              </a:rPr>
              <a:t xml:space="preserve">/apps</a:t>
            </a:r>
            <a:r>
              <a:rPr sz="950" b="0">
                <a:solidFill>
                  <a:srgbClr val="91AAB5"/>
                </a:solidFill>
              </a:rPr>
              <a:t xml:space="preserve">   product + indexing</a:t>
            </a:r>
          </a:p>
        </p:txBody>
      </p:sp>
      <p:sp xmlns:a="http://schemas.openxmlformats.org/drawingml/2006/main" xmlns:r="http://schemas.openxmlformats.org/officeDocument/2006/relationships">
        <p:nvSpPr>
          <p:cNvPr id="540" name="row"/>
          <p:cNvSpPr>
            <a:spLocks noGrp="1"/>
          </p:cNvSpPr>
          <p:nvPr/>
        </p:nvSpPr>
        <p:spPr>
          <a:xfrm>
            <a:off x="6355080" y="404164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GaleonEntrypoint  </a:t>
            </a:r>
            <a:r>
              <a:rPr sz="1050" b="1">
                <a:solidFill>
                  <a:srgbClr val="38E2F2"/>
                </a:solidFill>
                <a:hlinkClick r:id="rL_entry"/>
              </a:rPr>
              <a:t xml:space="preserve">0x8633…fb21</a:t>
            </a:r>
            <a:r>
              <a:rPr sz="950" b="0">
                <a:solidFill>
                  <a:srgbClr val="91AAB5"/>
                </a:solidFill>
              </a:rPr>
              <a:t xml:space="preserve">   deposits, ASP roots</a:t>
            </a:r>
          </a:p>
        </p:txBody>
      </p:sp>
      <p:sp xmlns:a="http://schemas.openxmlformats.org/drawingml/2006/main" xmlns:r="http://schemas.openxmlformats.org/officeDocument/2006/relationships">
        <p:nvSpPr>
          <p:cNvPr id="541" name="row"/>
          <p:cNvSpPr>
            <a:spLocks noGrp="1"/>
          </p:cNvSpPr>
          <p:nvPr/>
        </p:nvSpPr>
        <p:spPr>
          <a:xfrm>
            <a:off x="6355080" y="440740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Privacy Pool  </a:t>
            </a:r>
            <a:r>
              <a:rPr sz="1050" b="1">
                <a:solidFill>
                  <a:srgbClr val="38E2F2"/>
                </a:solidFill>
                <a:hlinkClick r:id="rL_poola"/>
              </a:rPr>
              <a:t xml:space="preserve">0xE271…59C0</a:t>
            </a:r>
            <a:r>
              <a:rPr sz="950" b="0">
                <a:solidFill>
                  <a:srgbClr val="91AAB5"/>
                </a:solidFill>
              </a:rPr>
              <a:t xml:space="preserve">   the mixing pool</a:t>
            </a:r>
          </a:p>
        </p:txBody>
      </p:sp>
      <p:sp xmlns:a="http://schemas.openxmlformats.org/drawingml/2006/main" xmlns:r="http://schemas.openxmlformats.org/officeDocument/2006/relationships">
        <p:nvSpPr>
          <p:cNvPr id="542" name="row"/>
          <p:cNvSpPr>
            <a:spLocks noGrp="1"/>
          </p:cNvSpPr>
          <p:nvPr/>
        </p:nvSpPr>
        <p:spPr>
          <a:xfrm>
            <a:off x="6355080" y="477316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GaleonRegistry  </a:t>
            </a:r>
            <a:r>
              <a:rPr sz="1050" b="1">
                <a:solidFill>
                  <a:srgbClr val="38E2F2"/>
                </a:solidFill>
                <a:hlinkClick r:id="rL_reg"/>
              </a:rPr>
              <a:t xml:space="preserve">0x9bcD…1e9D</a:t>
            </a:r>
            <a:r>
              <a:rPr sz="950" b="0">
                <a:solidFill>
                  <a:srgbClr val="91AAB5"/>
                </a:solidFill>
              </a:rPr>
              <a:t xml:space="preserve">   Ports, payments</a:t>
            </a:r>
          </a:p>
        </p:txBody>
      </p:sp>
      <p:sp xmlns:a="http://schemas.openxmlformats.org/drawingml/2006/main" xmlns:r="http://schemas.openxmlformats.org/officeDocument/2006/relationships">
        <p:nvSpPr>
          <p:cNvPr id="543" name="row"/>
          <p:cNvSpPr>
            <a:spLocks noGrp="1"/>
          </p:cNvSpPr>
          <p:nvPr/>
        </p:nvSpPr>
        <p:spPr>
          <a:xfrm>
            <a:off x="6355080" y="513892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Announcer  </a:t>
            </a:r>
            <a:r>
              <a:rPr sz="1050" b="1">
                <a:solidFill>
                  <a:srgbClr val="38E2F2"/>
                </a:solidFill>
                <a:hlinkClick r:id="rL_ann"/>
              </a:rPr>
              <a:t xml:space="preserve">0x8C04…1153</a:t>
            </a:r>
            <a:r>
              <a:rPr sz="950" b="0">
                <a:solidFill>
                  <a:srgbClr val="91AAB5"/>
                </a:solidFill>
              </a:rPr>
              <a:t xml:space="preserve">   stealth announcements</a:t>
            </a:r>
          </a:p>
        </p:txBody>
      </p:sp>
      <p:sp xmlns:a="http://schemas.openxmlformats.org/drawingml/2006/main" xmlns:r="http://schemas.openxmlformats.org/officeDocument/2006/relationships">
        <p:nvSpPr>
          <p:cNvPr id="550" name="foot"/>
          <p:cNvSpPr>
            <a:spLocks noGrp="1"/>
          </p:cNvSpPr>
          <p:nvPr/>
        </p:nvSpPr>
        <p:spPr>
          <a:xfrm>
            <a:off x="800100" y="5779008"/>
            <a:ext cx="10588752" cy="3657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MIT apps &amp; libraries  ·  Apache-2.0 contracts &amp; pool  ·  Privacy Pool foundations from 0xbow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67129919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870b999244d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C20D8-DCCA-4BEE-BE72-AE261792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22355-B87E-4630-90A5-F9E3E6B3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ab8053b65400f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6062B-2B3F-4DB5-856C-93345C81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B006A-CB00-4830-B6F2-5B41382A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5A6FD-A50F-4CAF-B2CC-CADFDAF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6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CCA33B-966F-4E8A-95DD-D6C7BFF3D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591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What works today, and what the funded year builds.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853DF-7979-4705-A039-7D37E7D2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24050"/>
            <a:ext cx="1059180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20B18">
              <a:alpha val="76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0ABC60-C8D9-4F4A-B825-68DDBDEB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288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5E6B5"/>
                </a:solidFill>
              </a:defRPr>
            </a:pPr>
            <a:r>
              <a:rPr sz="825" b="1">
                <a:solidFill>
                  <a:srgbClr val="75E6B5"/>
                </a:solidFill>
              </a:rPr>
              <a:t>WORKS NOW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242EC5-7832-4A64-8F83-39739EBC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289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Stealth-address payments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EE8998-120E-489E-B66D-AC61709EB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051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Native-MNT privacy pool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D4EA54-E89B-4066-9DBE-C3F5D836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814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Relayed private withdrawal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D1DE1E-B818-4BB5-849D-4194AD47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576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Public code and licenses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0B2B29-01FB-476D-955A-81029AAA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47900"/>
            <a:ext cx="9525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75F17C-2C97-476B-9CC9-E4F1358F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2288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6C36B"/>
                </a:solidFill>
              </a:defRPr>
            </a:pPr>
            <a:r>
              <a:rPr sz="825" b="1">
                <a:solidFill>
                  <a:srgbClr val="F6C36B"/>
                </a:solidFill>
              </a:rPr>
              <a:t>FUNDED WORK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368082-1181-43E7-80A4-E907F66A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6289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Stablecoin + blockchain migration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BAF42A-637B-4C82-A628-186BBFFB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1051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Real ASP process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403F77-721D-4660-8FDF-DE0C1854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5814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External delta-audit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C0A241-AE10-4202-8278-6776780B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0576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Controlled partner pilot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3007DF-9B32-460F-9EAC-F575E5730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102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E2F2"/>
                </a:solidFill>
              </a:defRPr>
            </a:pPr>
            <a:r>
              <a:rPr sz="825" b="1">
                <a:solidFill>
                  <a:srgbClr val="38E2F2"/>
                </a:solidFill>
              </a:rPr>
              <a:t>PROOF BOUNDARY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D8174B-9C3D-426B-9C40-079AAAC1C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95950"/>
            <a:ext cx="1059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Galeon proves settlement and contract rules. Partners prove eligibility, receipt, cash-out, and outcomes.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7405905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f95f9438b744c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447884-CFC9-4359-B03B-7FC88736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079CDA-9C5C-4117-857E-B9DD8B6A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b3e37758a4a3e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FBCF3-EA03-4DC6-81E9-2EB1028F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4AB207-C277-4588-8343-CD138E1F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90B621-2BA0-4C4C-8210-F9408BFF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7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5D98BF-D410-4E03-BE99-48FABC30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591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Strong privacy needs an institutional anchor.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19EF5B-5EE1-4FDC-9C84-CDB4B4CE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105918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020B18">
              <a:alpha val="74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43FBD0-93FE-4678-99D9-88E995BD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8125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EEBF2"/>
                </a:solidFill>
              </a:defRPr>
            </a:pPr>
            <a:r>
              <a:rPr sz="1800" b="1">
                <a:solidFill>
                  <a:srgbClr val="9EEBF2"/>
                </a:solidFill>
              </a:rPr>
              <a:t>Accountable ASP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EF55E6-9233-4B9A-AC93-95AD8B45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86100"/>
            <a:ext cx="2781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Rules, review, appeals, and public attestations.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F77051-ED7D-44D8-8C42-5C4BB162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381250"/>
            <a:ext cx="952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F12711-F785-453C-8621-D395A7FDF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8125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EEBF2"/>
                </a:solidFill>
              </a:defRPr>
            </a:pPr>
            <a:r>
              <a:rPr sz="1800" b="1">
                <a:solidFill>
                  <a:srgbClr val="9EEBF2"/>
                </a:solidFill>
              </a:rPr>
              <a:t>Active deposit set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7F52F7-380E-4FF7-B5F6-5127B3CD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86100"/>
            <a:ext cx="2781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Meaningful approved participation, not just a pool balance.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465C7D-7181-4E88-B5A7-C52722CB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381250"/>
            <a:ext cx="952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217F2C-F338-4BC1-9ADC-93EC41B8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8125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EEBF2"/>
                </a:solidFill>
              </a:defRPr>
            </a:pPr>
            <a:r>
              <a:rPr sz="1800" b="1">
                <a:solidFill>
                  <a:srgbClr val="9EEBF2"/>
                </a:solidFill>
              </a:rPr>
              <a:t>Partner delivery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9CCA5D-DCD3-4BE7-9B17-E9748D98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86100"/>
            <a:ext cx="2781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Enrollment, cash-out, support, and safeguarding.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432403-66FB-42E7-8FE5-A565F916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57800"/>
            <a:ext cx="10591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UNICEF can help test all three under real safeguarding constraints.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010520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e2fac494a4e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58B8D5-EA81-490D-90C4-85A20F889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360B36-F632-4B95-8660-8EB50423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aaa87c20104c78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E6BB93-B781-4B7F-9906-CB350233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F9474D-C60A-4162-AE7C-58396432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42213A-CDC6-4242-A918-0ED176BA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8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CA194D-D855-45FC-9D89-C35FC6EB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38200"/>
            <a:ext cx="10591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UNICEF can test whether Galeon belongs in a humanitarian cash program.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01AD93-FD63-4CDC-BD6A-03047079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81200"/>
            <a:ext cx="105918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20B18">
              <a:alpha val="74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B0375B-670C-4F48-B9F6-81D0A9B9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E2F2"/>
                </a:solidFill>
              </a:defRPr>
            </a:pPr>
            <a:r>
              <a:rPr sz="1875" b="1">
                <a:solidFill>
                  <a:srgbClr val="38E2F2"/>
                </a:solidFill>
              </a:rPr>
              <a:t>Q1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5D3760-1F18-4089-91AC-D8DEF98C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Stablecoin + hardening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E4052B-787F-4A46-A3FE-1EAD4712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05050"/>
            <a:ext cx="95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75CD5B-2174-48CF-82EF-26CB4E6B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E2F2"/>
                </a:solidFill>
              </a:defRPr>
            </a:pPr>
            <a:r>
              <a:rPr sz="1875" b="1">
                <a:solidFill>
                  <a:srgbClr val="38E2F2"/>
                </a:solidFill>
              </a:rPr>
              <a:t>Q2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68BBD5-7098-4932-8284-80093555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Audit + real ASP + sandbox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190142-D89C-4493-B744-EC1465CB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305050"/>
            <a:ext cx="95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857E5E-9981-4795-B1B0-3E1620AD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Q3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CF5E27-21FA-419C-8AFB-6E1C9D24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Controlled pilot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35CDCA-CD7A-425B-8B75-744F302F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05050"/>
            <a:ext cx="95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0B640B-81D3-4A27-8FB2-A310789B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Q4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7C53B7-3758-412B-BC83-F988161E9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Evaluate + expand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3D54FD-AA3B-4B70-8BF8-58D8DD1A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E2F2"/>
                </a:solidFill>
              </a:defRPr>
            </a:pPr>
            <a:r>
              <a:rPr sz="825" b="1">
                <a:solidFill>
                  <a:srgbClr val="38E2F2"/>
                </a:solidFill>
              </a:rPr>
              <a:t>SUSTAINABILITY PATH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A3CBEB-9968-4939-9775-A60485CC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59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Open source  ·  Deploy: integration + training  ·  Operate: support + technical ASP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108C95-E3DE-47BE-90E2-02EF68B7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1059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1AAB5"/>
                </a:solidFill>
              </a:defRPr>
            </a:pPr>
            <a:r>
              <a:rPr sz="1275" b="0">
                <a:solidFill>
                  <a:srgbClr val="91AAB5"/>
                </a:solidFill>
              </a:rPr>
              <a:t>Institution pays · No beneficiary fee · No current revenue. Funded year tests demand and cost to serve.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11048084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870b999244d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C20D8-DCCA-4BEE-BE72-AE261792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22355-B87E-4630-90A5-F9E3E6B3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ab8053b65400f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6062B-2B3F-4DB5-856C-93345C81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B006A-CB00-4830-B6F2-5B41382A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5A6FD-A50F-4CAF-B2CC-CADFDAF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9 / 9</a:t>
            </a:r>
          </a:p>
        </p:txBody>
      </p:sp>
      <p:sp xmlns:a="http://schemas.openxmlformats.org/drawingml/2006/main" xmlns:r="http://schemas.openxmlformats.org/officeDocument/2006/relationships">
        <p:nvSpPr>
          <p:cNvPr id="600" name="title"/>
          <p:cNvSpPr>
            <a:spLocks noGrp="1"/>
          </p:cNvSpPr>
          <p:nvPr/>
        </p:nvSpPr>
        <p:spPr>
          <a:xfrm>
            <a:off x="800100" y="786384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See Galeon live.</a:t>
            </a:r>
          </a:p>
        </p:txBody>
      </p:sp>
      <p:sp xmlns:a="http://schemas.openxmlformats.org/drawingml/2006/main" xmlns:r="http://schemas.openxmlformats.org/officeDocument/2006/relationships">
        <p:nvSpPr>
          <p:cNvPr id="601" name="sub"/>
          <p:cNvSpPr>
            <a:spLocks noGrp="1"/>
          </p:cNvSpPr>
          <p:nvPr/>
        </p:nvSpPr>
        <p:spPr>
          <a:xfrm>
            <a:off x="800100" y="1444752"/>
            <a:ext cx="10588752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500" b="0">
                <a:solidFill>
                  <a:srgbClr val="D5E6EC"/>
                </a:solidFill>
              </a:rPr>
              <a:t xml:space="preserve">Everything here is public. Open the app, read the code, verify on chain.</a:t>
            </a:r>
          </a:p>
        </p:txBody>
      </p:sp>
      <p:sp xmlns:a="http://schemas.openxmlformats.org/drawingml/2006/main">
        <p:nvSpPr>
          <p:cNvPr id="610" name="card"/>
          <p:cNvSpPr>
            <a:spLocks noGrp="1"/>
          </p:cNvSpPr>
          <p:nvPr/>
        </p:nvSpPr>
        <p:spPr>
          <a:xfrm>
            <a:off x="800100" y="2148840"/>
            <a:ext cx="3419856" cy="169164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620" name="lbl"/>
          <p:cNvSpPr>
            <a:spLocks noGrp="1"/>
          </p:cNvSpPr>
          <p:nvPr/>
        </p:nvSpPr>
        <p:spPr>
          <a:xfrm>
            <a:off x="1120140" y="2468880"/>
            <a:ext cx="2834640" cy="237744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LIVE APP</a:t>
            </a:r>
          </a:p>
        </p:txBody>
      </p:sp>
      <p:sp xmlns:a="http://schemas.openxmlformats.org/drawingml/2006/main" xmlns:r="http://schemas.openxmlformats.org/officeDocument/2006/relationships">
        <p:nvSpPr>
          <p:cNvPr id="621" name="lnk"/>
          <p:cNvSpPr>
            <a:spLocks noGrp="1"/>
          </p:cNvSpPr>
          <p:nvPr/>
        </p:nvSpPr>
        <p:spPr>
          <a:xfrm>
            <a:off x="1120140" y="2788920"/>
            <a:ext cx="292608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9EEBF2"/>
                </a:solidFill>
                <a:hlinkClick r:id="rC_app"/>
              </a:rPr>
              <a:t xml:space="preserve">galeon.finance  ↗</a:t>
            </a:r>
          </a:p>
        </p:txBody>
      </p:sp>
      <p:sp xmlns:a="http://schemas.openxmlformats.org/drawingml/2006/main" xmlns:r="http://schemas.openxmlformats.org/officeDocument/2006/relationships">
        <p:nvSpPr>
          <p:cNvPr id="622" name="d"/>
          <p:cNvSpPr>
            <a:spLocks noGrp="1"/>
          </p:cNvSpPr>
          <p:nvPr/>
        </p:nvSpPr>
        <p:spPr>
          <a:xfrm>
            <a:off x="1120140" y="3200400"/>
            <a:ext cx="2834640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The product you just watched.</a:t>
            </a:r>
          </a:p>
        </p:txBody>
      </p:sp>
      <p:sp xmlns:a="http://schemas.openxmlformats.org/drawingml/2006/main">
        <p:nvSpPr>
          <p:cNvPr id="611" name="card"/>
          <p:cNvSpPr>
            <a:spLocks noGrp="1"/>
          </p:cNvSpPr>
          <p:nvPr/>
        </p:nvSpPr>
        <p:spPr>
          <a:xfrm>
            <a:off x="4379976" y="2148840"/>
            <a:ext cx="3419856" cy="169164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623" name="lbl"/>
          <p:cNvSpPr>
            <a:spLocks noGrp="1"/>
          </p:cNvSpPr>
          <p:nvPr/>
        </p:nvSpPr>
        <p:spPr>
          <a:xfrm>
            <a:off x="4700016" y="2468880"/>
            <a:ext cx="2834640" cy="237744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REPOSITORY</a:t>
            </a:r>
          </a:p>
        </p:txBody>
      </p:sp>
      <p:sp xmlns:a="http://schemas.openxmlformats.org/drawingml/2006/main" xmlns:r="http://schemas.openxmlformats.org/officeDocument/2006/relationships">
        <p:nvSpPr>
          <p:cNvPr id="624" name="lnk"/>
          <p:cNvSpPr>
            <a:spLocks noGrp="1"/>
          </p:cNvSpPr>
          <p:nvPr/>
        </p:nvSpPr>
        <p:spPr>
          <a:xfrm>
            <a:off x="4700016" y="2788920"/>
            <a:ext cx="292608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9EEBF2"/>
                </a:solidFill>
                <a:hlinkClick r:id="rC_repo"/>
              </a:rPr>
              <a:t xml:space="preserve">github.com/mateodaza/galeon  ↗</a:t>
            </a:r>
          </a:p>
        </p:txBody>
      </p:sp>
      <p:sp xmlns:a="http://schemas.openxmlformats.org/drawingml/2006/main" xmlns:r="http://schemas.openxmlformats.org/officeDocument/2006/relationships">
        <p:nvSpPr>
          <p:cNvPr id="625" name="d"/>
          <p:cNvSpPr>
            <a:spLocks noGrp="1"/>
          </p:cNvSpPr>
          <p:nvPr/>
        </p:nvSpPr>
        <p:spPr>
          <a:xfrm>
            <a:off x="4700016" y="3200400"/>
            <a:ext cx="2834640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Apps, packages, contracts, tests.</a:t>
            </a:r>
          </a:p>
        </p:txBody>
      </p:sp>
      <p:sp xmlns:a="http://schemas.openxmlformats.org/drawingml/2006/main">
        <p:nvSpPr>
          <p:cNvPr id="612" name="card"/>
          <p:cNvSpPr>
            <a:spLocks noGrp="1"/>
          </p:cNvSpPr>
          <p:nvPr/>
        </p:nvSpPr>
        <p:spPr>
          <a:xfrm>
            <a:off x="7964424" y="2148840"/>
            <a:ext cx="3419856" cy="169164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626" name="lbl"/>
          <p:cNvSpPr>
            <a:spLocks noGrp="1"/>
          </p:cNvSpPr>
          <p:nvPr/>
        </p:nvSpPr>
        <p:spPr>
          <a:xfrm>
            <a:off x="8284464" y="2468880"/>
            <a:ext cx="2834640" cy="237744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ON MANTLE MAINNET</a:t>
            </a:r>
          </a:p>
        </p:txBody>
      </p:sp>
      <p:sp xmlns:a="http://schemas.openxmlformats.org/drawingml/2006/main" xmlns:r="http://schemas.openxmlformats.org/officeDocument/2006/relationships">
        <p:nvSpPr>
          <p:cNvPr id="627" name="lnk"/>
          <p:cNvSpPr>
            <a:spLocks noGrp="1"/>
          </p:cNvSpPr>
          <p:nvPr/>
        </p:nvSpPr>
        <p:spPr>
          <a:xfrm>
            <a:off x="8284464" y="2788920"/>
            <a:ext cx="292608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9EEBF2"/>
                </a:solidFill>
                <a:hlinkClick r:id="rC_entry"/>
              </a:rPr>
              <a:t xml:space="preserve">Entrypoint 0x8633…fb21  ↗</a:t>
            </a:r>
          </a:p>
        </p:txBody>
      </p:sp>
      <p:sp xmlns:a="http://schemas.openxmlformats.org/drawingml/2006/main" xmlns:r="http://schemas.openxmlformats.org/officeDocument/2006/relationships">
        <p:nvSpPr>
          <p:cNvPr id="628" name="d"/>
          <p:cNvSpPr>
            <a:spLocks noGrp="1"/>
          </p:cNvSpPr>
          <p:nvPr/>
        </p:nvSpPr>
        <p:spPr>
          <a:xfrm>
            <a:off x="8284464" y="3200400"/>
            <a:ext cx="2834640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Deposits, ASP roots, withdrawals.</a:t>
            </a:r>
          </a:p>
        </p:txBody>
      </p:sp>
      <p:sp xmlns:a="http://schemas.openxmlformats.org/drawingml/2006/main" xmlns:r="http://schemas.openxmlformats.org/officeDocument/2006/relationships">
        <p:nvSpPr>
          <p:cNvPr id="640" name="q"/>
          <p:cNvSpPr>
            <a:spLocks noGrp="1"/>
          </p:cNvSpPr>
          <p:nvPr/>
        </p:nvSpPr>
        <p:spPr>
          <a:xfrm>
            <a:off x="800100" y="4434840"/>
            <a:ext cx="10588752" cy="7772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600" b="1">
                <a:solidFill>
                  <a:srgbClr val="FFFFFF"/>
                </a:solidFill>
              </a:rPr>
              <a:t xml:space="preserve">Can public-chain aid stay auditable without a public beneficiary transaction graph? That is what the funded year tests.</a:t>
            </a:r>
          </a:p>
        </p:txBody>
      </p:sp>
      <p:sp xmlns:a="http://schemas.openxmlformats.org/drawingml/2006/main" xmlns:r="http://schemas.openxmlformats.org/officeDocument/2006/relationships">
        <p:nvSpPr>
          <p:cNvPr id="641" name="ty"/>
          <p:cNvSpPr>
            <a:spLocks noGrp="1"/>
          </p:cNvSpPr>
          <p:nvPr/>
        </p:nvSpPr>
        <p:spPr>
          <a:xfrm>
            <a:off x="800100" y="5440680"/>
            <a:ext cx="10588752" cy="3657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91AAB5"/>
                </a:solidFill>
              </a:rPr>
              <a:t xml:space="preserve">Thank you. We are ready for your questions.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7405905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870b999244d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C20D8-DCCA-4BEE-BE72-AE261792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22355-B87E-4630-90A5-F9E3E6B3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ab8053b65400f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6062B-2B3F-4DB5-856C-93345C81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B006A-CB00-4830-B6F2-5B41382A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5A6FD-A50F-4CAF-B2CC-CADFDAF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3 / 9</a:t>
            </a:r>
          </a:p>
        </p:txBody>
      </p:sp>
      <p:sp xmlns:a="http://schemas.openxmlformats.org/drawingml/2006/main" xmlns:r="http://schemas.openxmlformats.org/officeDocument/2006/relationships">
        <p:nvSpPr>
          <p:cNvPr id="700" name="title"/>
          <p:cNvSpPr>
            <a:spLocks noGrp="1"/>
          </p:cNvSpPr>
          <p:nvPr/>
        </p:nvSpPr>
        <p:spPr>
          <a:xfrm>
            <a:off x="800100" y="786384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Pitch</a:t>
            </a:r>
          </a:p>
        </p:txBody>
      </p:sp>
      <p:sp xmlns:a="http://schemas.openxmlformats.org/drawingml/2006/main">
        <p:nvSpPr>
          <p:cNvPr id="701" name="card"/>
          <p:cNvSpPr>
            <a:spLocks noGrp="1"/>
          </p:cNvSpPr>
          <p:nvPr/>
        </p:nvSpPr>
        <p:spPr>
          <a:xfrm>
            <a:off x="800100" y="2148840"/>
            <a:ext cx="10588752" cy="214884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702" name="body"/>
          <p:cNvSpPr>
            <a:spLocks noGrp="1"/>
          </p:cNvSpPr>
          <p:nvPr/>
        </p:nvSpPr>
        <p:spPr>
          <a:xfrm>
            <a:off x="1216152" y="2148840"/>
            <a:ext cx="9756648" cy="2148840"/>
          </a:xfrm>
          <a:prstGeom prst="rect">
            <a:avLst/>
          </a:prstGeom>
          <a:noFill/>
          <a:ln w="0">
            <a:noFill/>
          </a:ln>
        </p:spPr>
        <p:txBody>
          <a:bodyPr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 xml:space="preserve">Galeon is an open-source privacy infrastructure for public blockchains, providing a framework for auditable payments without exposing transaction owners, built for humanitarian programs.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740590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Inter"/>
        <a:ea typeface="Inter"/>
        <a:cs typeface="Inter"/>
      </a:majorFont>
      <a:minorFont>
        <a:latin typeface="Inter"/>
        <a:ea typeface="Inter"/>
        <a:cs typeface="Inter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2026-07-22T01:27:59.5840000Z</dcterms:created>
  <dcterms:modified xsi:type="dcterms:W3CDTF">2026-07-22T01:27:59.5840000Z</dcterms:modified>
</coreProperties>
</file>