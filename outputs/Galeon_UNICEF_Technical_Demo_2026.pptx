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Id2"/>
    <p:sldId xmlns:r="http://schemas.openxmlformats.org/officeDocument/2006/relationships" id="259" r:id="R72980a0bb84f4475"/>
    <p:sldId xmlns:r="http://schemas.openxmlformats.org/officeDocument/2006/relationships" id="260" r:id="R78cd29de57ce4044"/>
    <p:sldId xmlns:r="http://schemas.openxmlformats.org/officeDocument/2006/relationships" id="261" r:id="Re37a90d3e89a4bf1"/>
    <p:sldId xmlns:r="http://schemas.openxmlformats.org/officeDocument/2006/relationships" id="262" r:id="R0a19dcb5c4e64a46"/>
    <p:sldId xmlns:r="http://schemas.openxmlformats.org/officeDocument/2006/relationships" id="263" r:id="Rb51aab30981d47f3"/>
    <p:sldId xmlns:r="http://schemas.openxmlformats.org/officeDocument/2006/relationships" id="264" r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ad84d0a7097d4ac8"/><Relationship Type="http://schemas.openxmlformats.org/officeDocument/2006/relationships/slideMaster" Target="/ppt/slideMasters/slideMaster1.xml" Id="Ree7f96cf4a3c4066"/><Relationship Type="http://schemas.openxmlformats.org/officeDocument/2006/relationships/notesMaster" Target="/ppt/notesMasters/notesMaster1.xml" Id="R9626989156e047e7"/><Relationship Type="http://schemas.openxmlformats.org/officeDocument/2006/relationships/presProps" Target="/ppt/presProps.xml" Id="R819f826f25ad447d"/><Relationship Type="http://schemas.openxmlformats.org/officeDocument/2006/relationships/tableStyles" Target="/ppt/tableStyles.xml" Id="R5619cdb1304e48d2"/><Relationship Type="http://schemas.openxmlformats.org/officeDocument/2006/relationships/slide" Target="/ppt/slides/slide1.xml" Id="Rcf9f32f5bfe940d9"/><Relationship Type="http://schemas.openxmlformats.org/officeDocument/2006/relationships/slide" Target="/ppt/slides/slide2.xml" Id="R210ae5f0aaff43ea"/><Relationship Type="http://schemas.openxmlformats.org/officeDocument/2006/relationships/slide" Target="/ppt/slides/slide3.xml" Id="R72980a0bb84f4475"/><Relationship Type="http://schemas.openxmlformats.org/officeDocument/2006/relationships/slide" Target="/ppt/slides/slide5.xml" Id="R78cd29de57ce4044"/><Relationship Type="http://schemas.openxmlformats.org/officeDocument/2006/relationships/slide" Target="/ppt/slides/slide6.xml" Id="Re37a90d3e89a4bf1"/><Relationship Type="http://schemas.openxmlformats.org/officeDocument/2006/relationships/slide" Target="/ppt/slides/slide7.xml" Id="R0a19dcb5c4e64a46"/><Relationship Type="http://schemas.openxmlformats.org/officeDocument/2006/relationships/slide" Target="/ppt/slides/slide8.xml" Id="Rb51aab30981d47f3"/>  <Relationship Id="rId1" Type="http://schemas.openxmlformats.org/officeDocument/2006/relationships/slide" Target="slides/slide9.xml"/>
  <Relationship Id="rId2" Type="http://schemas.openxmlformats.org/officeDocument/2006/relationships/slide" Target="slides/slide10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Relationship Id="rPh_mateo" Type="http://schemas.openxmlformats.org/officeDocument/2006/relationships/image" Target="/ppt/media/team_mateo.png" /><Relationship Id="rPh_carlos" Type="http://schemas.openxmlformats.org/officeDocument/2006/relationships/image" Target="/ppt/media/team_carlos.png" /><Relationship Id="rPh_fabio" Type="http://schemas.openxmlformats.org/officeDocument/2006/relationships/image" Target="/ppt/media/team_fabio.png" /><Relationship Id="rPh_juandavid" Type="http://schemas.openxmlformats.org/officeDocument/2006/relationships/image" Target="/ppt/media/team_juandavid.png" /><Relationship Id="rPh_juanjose" Type="http://schemas.openxmlformats.org/officeDocument/2006/relationships/image" Target="/ppt/media/team_juanjose.png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Relationship Id="rD_app" Type="http://schemas.openxmlformats.org/officeDocument/2006/relationships/hyperlink" Target="https://www.galeon.finance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Id="rC_app" Type="http://schemas.openxmlformats.org/officeDocument/2006/relationships/hyperlink" Target="https://www.galeon.finance" TargetMode="External" /><Relationship Id="rC_repo" Type="http://schemas.openxmlformats.org/officeDocument/2006/relationships/hyperlink" Target="https://github.com/mateodaza/galeon" TargetMode="External" /><Relationship Id="rC_entry" Type="http://schemas.openxmlformats.org/officeDocument/2006/relationships/hyperlink" Target="https://mantlescan.xyz/address/0x8633518fbbf23E78586F1456530c3452885efb21" TargetMode="External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Compliance-ready privacy for real-world payments.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Cartagena On Chain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 xmlns:a="http://schemas.openxmlformats.org/drawingml/2006/main" xmlns:r="http://schemas.openxmlformats.org/officeDocument/2006/relationships">
        <p:nvSpPr>
          <p:cNvPr id="2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Team</a:t>
            </a:r>
          </a:p>
        </p:txBody>
      </p:sp>
      <p:sp xmlns:a="http://schemas.openxmlformats.org/drawingml/2006/main">
        <p:nvSpPr>
          <p:cNvPr id="201" name="card"/>
          <p:cNvSpPr>
            <a:spLocks noGrp="1"/>
          </p:cNvSpPr>
          <p:nvPr/>
        </p:nvSpPr>
        <p:spPr>
          <a:xfrm>
            <a:off x="800100" y="1783080"/>
            <a:ext cx="10588752" cy="288036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pic xmlns:a="http://schemas.openxmlformats.org/drawingml/2006/main" xmlns:r="http://schemas.openxmlformats.org/officeDocument/2006/relationships">
        <p:nvPicPr>
          <p:cNvPr id="210" name="photo"/>
          <p:cNvPicPr>
            <a:picLocks noChangeAspect="1"/>
          </p:cNvPicPr>
          <p:nvPr/>
        </p:nvPicPr>
        <p:blipFill>
          <a:blip r:embed="rPh_mateo"/>
          <a:stretch>
            <a:fillRect/>
          </a:stretch>
        </p:blipFill>
        <p:spPr>
          <a:xfrm>
            <a:off x="1333195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1" name="nm"/>
          <p:cNvSpPr>
            <a:spLocks noGrp="1"/>
          </p:cNvSpPr>
          <p:nvPr/>
        </p:nvSpPr>
        <p:spPr>
          <a:xfrm>
            <a:off x="761695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Mateo Daza</a:t>
            </a:r>
          </a:p>
        </p:txBody>
      </p:sp>
      <p:sp xmlns:a="http://schemas.openxmlformats.org/drawingml/2006/main" xmlns:r="http://schemas.openxmlformats.org/officeDocument/2006/relationships">
        <p:nvSpPr>
          <p:cNvPr id="212" name="rl"/>
          <p:cNvSpPr>
            <a:spLocks noGrp="1"/>
          </p:cNvSpPr>
          <p:nvPr/>
        </p:nvSpPr>
        <p:spPr>
          <a:xfrm>
            <a:off x="807415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Product + frontend</a:t>
            </a:r>
          </a:p>
        </p:txBody>
      </p:sp>
      <p:pic xmlns:a="http://schemas.openxmlformats.org/drawingml/2006/main" xmlns:r="http://schemas.openxmlformats.org/officeDocument/2006/relationships">
        <p:nvPicPr>
          <p:cNvPr id="213" name="photo"/>
          <p:cNvPicPr>
            <a:picLocks noChangeAspect="1"/>
          </p:cNvPicPr>
          <p:nvPr/>
        </p:nvPicPr>
        <p:blipFill>
          <a:blip r:embed="rPh_carlos"/>
          <a:stretch>
            <a:fillRect/>
          </a:stretch>
        </p:blipFill>
        <p:spPr>
          <a:xfrm>
            <a:off x="34509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4" name="nm"/>
          <p:cNvSpPr>
            <a:spLocks noGrp="1"/>
          </p:cNvSpPr>
          <p:nvPr/>
        </p:nvSpPr>
        <p:spPr>
          <a:xfrm>
            <a:off x="28794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Carlos Quintero</a:t>
            </a:r>
          </a:p>
        </p:txBody>
      </p:sp>
      <p:sp xmlns:a="http://schemas.openxmlformats.org/drawingml/2006/main" xmlns:r="http://schemas.openxmlformats.org/officeDocument/2006/relationships">
        <p:nvSpPr>
          <p:cNvPr id="215" name="rl"/>
          <p:cNvSpPr>
            <a:spLocks noGrp="1"/>
          </p:cNvSpPr>
          <p:nvPr/>
        </p:nvSpPr>
        <p:spPr>
          <a:xfrm>
            <a:off x="29251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Backend + protocol · Lead developer</a:t>
            </a:r>
          </a:p>
        </p:txBody>
      </p:sp>
      <p:pic xmlns:a="http://schemas.openxmlformats.org/drawingml/2006/main" xmlns:r="http://schemas.openxmlformats.org/officeDocument/2006/relationships">
        <p:nvPicPr>
          <p:cNvPr id="216" name="photo"/>
          <p:cNvPicPr>
            <a:picLocks noChangeAspect="1"/>
          </p:cNvPicPr>
          <p:nvPr/>
        </p:nvPicPr>
        <p:blipFill>
          <a:blip r:embed="rPh_fabio"/>
          <a:stretch>
            <a:fillRect/>
          </a:stretch>
        </p:blipFill>
        <p:spPr>
          <a:xfrm>
            <a:off x="556869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7" name="nm"/>
          <p:cNvSpPr>
            <a:spLocks noGrp="1"/>
          </p:cNvSpPr>
          <p:nvPr/>
        </p:nvSpPr>
        <p:spPr>
          <a:xfrm>
            <a:off x="499719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Fabio Anaya</a:t>
            </a:r>
          </a:p>
        </p:txBody>
      </p:sp>
      <p:sp xmlns:a="http://schemas.openxmlformats.org/drawingml/2006/main" xmlns:r="http://schemas.openxmlformats.org/officeDocument/2006/relationships">
        <p:nvSpPr>
          <p:cNvPr id="218" name="rl"/>
          <p:cNvSpPr>
            <a:spLocks noGrp="1"/>
          </p:cNvSpPr>
          <p:nvPr/>
        </p:nvSpPr>
        <p:spPr>
          <a:xfrm>
            <a:off x="504291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Growth + partnerships</a:t>
            </a:r>
          </a:p>
        </p:txBody>
      </p:sp>
      <p:pic xmlns:a="http://schemas.openxmlformats.org/drawingml/2006/main" xmlns:r="http://schemas.openxmlformats.org/officeDocument/2006/relationships">
        <p:nvPicPr>
          <p:cNvPr id="219" name="photo"/>
          <p:cNvPicPr>
            <a:picLocks noChangeAspect="1"/>
          </p:cNvPicPr>
          <p:nvPr/>
        </p:nvPicPr>
        <p:blipFill>
          <a:blip r:embed="rPh_juandavid"/>
          <a:stretch>
            <a:fillRect/>
          </a:stretch>
        </p:blipFill>
        <p:spPr>
          <a:xfrm>
            <a:off x="76864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0" name="nm"/>
          <p:cNvSpPr>
            <a:spLocks noGrp="1"/>
          </p:cNvSpPr>
          <p:nvPr/>
        </p:nvSpPr>
        <p:spPr>
          <a:xfrm>
            <a:off x="71149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David Correa</a:t>
            </a:r>
          </a:p>
        </p:txBody>
      </p:sp>
      <p:sp xmlns:a="http://schemas.openxmlformats.org/drawingml/2006/main" xmlns:r="http://schemas.openxmlformats.org/officeDocument/2006/relationships">
        <p:nvSpPr>
          <p:cNvPr id="221" name="rl"/>
          <p:cNvSpPr>
            <a:spLocks noGrp="1"/>
          </p:cNvSpPr>
          <p:nvPr/>
        </p:nvSpPr>
        <p:spPr>
          <a:xfrm>
            <a:off x="71606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Operations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222" name="photo"/>
          <p:cNvPicPr>
            <a:picLocks noChangeAspect="1"/>
          </p:cNvPicPr>
          <p:nvPr/>
        </p:nvPicPr>
        <p:blipFill>
          <a:blip r:embed="rPh_juanjose"/>
          <a:stretch>
            <a:fillRect/>
          </a:stretch>
        </p:blipFill>
        <p:spPr>
          <a:xfrm>
            <a:off x="9804197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3" name="nm"/>
          <p:cNvSpPr>
            <a:spLocks noGrp="1"/>
          </p:cNvSpPr>
          <p:nvPr/>
        </p:nvSpPr>
        <p:spPr>
          <a:xfrm>
            <a:off x="9232697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José Sanfeliú</a:t>
            </a:r>
          </a:p>
        </p:txBody>
      </p:sp>
      <p:sp xmlns:a="http://schemas.openxmlformats.org/drawingml/2006/main" xmlns:r="http://schemas.openxmlformats.org/officeDocument/2006/relationships">
        <p:nvSpPr>
          <p:cNvPr id="224" name="rl"/>
          <p:cNvSpPr>
            <a:spLocks noGrp="1"/>
          </p:cNvSpPr>
          <p:nvPr/>
        </p:nvSpPr>
        <p:spPr>
          <a:xfrm>
            <a:off x="9278417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Marketing + community</a:t>
            </a:r>
          </a:p>
        </p:txBody>
      </p:sp>
      <p:sp xmlns:a="http://schemas.openxmlformats.org/drawingml/2006/main" xmlns:r="http://schemas.openxmlformats.org/officeDocument/2006/relationships">
        <p:nvSpPr>
          <p:cNvPr id="230" name="orglbl"/>
          <p:cNvSpPr>
            <a:spLocks noGrp="1"/>
          </p:cNvSpPr>
          <p:nvPr/>
        </p:nvSpPr>
        <p:spPr>
          <a:xfrm>
            <a:off x="800100" y="4983480"/>
            <a:ext cx="10588752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CARTAGENA ON CHAIN · CARTAGENA, COLOMBIA</a:t>
            </a:r>
          </a:p>
        </p:txBody>
      </p:sp>
      <p:sp xmlns:a="http://schemas.openxmlformats.org/drawingml/2006/main" xmlns:r="http://schemas.openxmlformats.org/officeDocument/2006/relationships">
        <p:nvSpPr>
          <p:cNvPr id="231" name="orgtxt"/>
          <p:cNvSpPr>
            <a:spLocks noGrp="1"/>
          </p:cNvSpPr>
          <p:nvPr/>
        </p:nvSpPr>
        <p:spPr>
          <a:xfrm>
            <a:off x="800100" y="5276088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Applicant and operator for the funded year.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Privacy in three layers.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Receiver privacy, transaction privacy, and policy, each with its own control.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29968"/>
            <a:ext cx="10588752" cy="210312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216152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216152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Ports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desc"/>
          <p:cNvSpPr>
            <a:spLocks noGrp="1"/>
          </p:cNvSpPr>
          <p:nvPr/>
        </p:nvSpPr>
        <p:spPr>
          <a:xfrm>
            <a:off x="1216152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fresh stealth address for every payment.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443984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764024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764024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Privacy Pool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desc"/>
          <p:cNvSpPr>
            <a:spLocks noGrp="1"/>
          </p:cNvSpPr>
          <p:nvPr/>
        </p:nvSpPr>
        <p:spPr>
          <a:xfrm>
            <a:off x="4764024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ZK proof breaks the public deposit-to-withdrawal link.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91856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311896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311896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ASP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desc"/>
          <p:cNvSpPr>
            <a:spLocks noGrp="1"/>
          </p:cNvSpPr>
          <p:nvPr/>
        </p:nvSpPr>
        <p:spPr>
          <a:xfrm>
            <a:off x="8311896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policy gate decides which deposits may withdraw privately.</a:t>
            </a:r>
          </a:p>
        </p:txBody>
      </p:sp>
      <p:sp xmlns:a="http://schemas.openxmlformats.org/drawingml/2006/main" xmlns:r="http://schemas.openxmlformats.org/officeDocument/2006/relationships">
        <p:nvSpPr>
          <p:cNvPr id="340" name="dl"/>
          <p:cNvSpPr>
            <a:spLocks noGrp="1"/>
          </p:cNvSpPr>
          <p:nvPr/>
        </p:nvSpPr>
        <p:spPr>
          <a:xfrm>
            <a:off x="800100" y="4407408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DEMO</a:t>
            </a:r>
          </a:p>
        </p:txBody>
      </p:sp>
      <p:sp xmlns:a="http://schemas.openxmlformats.org/drawingml/2006/main" xmlns:r="http://schemas.openxmlformats.org/officeDocument/2006/relationships">
        <p:nvSpPr>
          <p:cNvPr id="341" name="dlinks"/>
          <p:cNvSpPr>
            <a:spLocks noGrp="1"/>
          </p:cNvSpPr>
          <p:nvPr/>
        </p:nvSpPr>
        <p:spPr>
          <a:xfrm>
            <a:off x="6309360" y="4407408"/>
            <a:ext cx="507492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r"/>
            <a:r>
              <a:rPr sz="1050" b="1">
                <a:solidFill>
                  <a:srgbClr val="9EEBF2"/>
                </a:solidFill>
                <a:hlinkClick r:id="rD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342" name="dt"/>
          <p:cNvSpPr>
            <a:spLocks noGrp="1"/>
          </p:cNvSpPr>
          <p:nvPr/>
        </p:nvSpPr>
        <p:spPr>
          <a:xfrm>
            <a:off x="800100" y="4681728"/>
            <a:ext cx="10588752" cy="5943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 xml:space="preserve">One private withdrawal, performed live: a pre-staged deposit, a client-generated ZK proof, and the block explorer showing the relayer, not the depositor.</a:t>
            </a:r>
          </a:p>
        </p:txBody>
      </p:sp>
      <p:sp xmlns:a="http://schemas.openxmlformats.org/drawingml/2006/main" xmlns:r="http://schemas.openxmlformats.org/officeDocument/2006/relationships">
        <p:nvSpPr>
          <p:cNvPr id="343" name="dh"/>
          <p:cNvSpPr>
            <a:spLocks noGrp="1"/>
          </p:cNvSpPr>
          <p:nvPr/>
        </p:nvSpPr>
        <p:spPr>
          <a:xfrm>
            <a:off x="800100" y="5358384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150" b="0">
                <a:solidFill>
                  <a:srgbClr val="91AAB5"/>
                </a:solidFill>
              </a:rPr>
              <a:t xml:space="preserve">The recipient and amount remain public. We demonstrate unlinkability, not invisibility.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13232"/>
            <a:ext cx="10588752" cy="53035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Everything in this demo is open source.</a:t>
            </a:r>
          </a:p>
        </p:txBody>
      </p:sp>
      <p:sp xmlns:a="http://schemas.openxmlformats.org/drawingml/2006/main" xmlns:r="http://schemas.openxmlformats.org/officeDocument/2006/relationships">
        <p:nvSpPr>
          <p:cNvPr id="501" name="sub"/>
          <p:cNvSpPr>
            <a:spLocks noGrp="1"/>
          </p:cNvSpPr>
          <p:nvPr/>
        </p:nvSpPr>
        <p:spPr>
          <a:xfrm>
            <a:off x="800100" y="1316736"/>
            <a:ext cx="10588752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Keys and proofs live in the browser. The backend coordinates but never holds funds. Settlement runs on public smart contracts.</a:t>
            </a:r>
          </a:p>
        </p:txBody>
      </p:sp>
      <p:sp xmlns:a="http://schemas.openxmlformats.org/drawingml/2006/main">
        <p:nvSpPr>
          <p:cNvPr id="502" name="card"/>
          <p:cNvSpPr>
            <a:spLocks noGrp="1"/>
          </p:cNvSpPr>
          <p:nvPr/>
        </p:nvSpPr>
        <p:spPr>
          <a:xfrm>
            <a:off x="800100" y="2011680"/>
            <a:ext cx="10588752" cy="36118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16152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16152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764024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764024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8311896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8311896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deployed on mainnet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16152" y="3291840"/>
            <a:ext cx="9756648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16152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16152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355080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6035040" y="3438144"/>
            <a:ext cx="9510" cy="201168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16152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Stealth library  </a:t>
            </a:r>
            <a:r>
              <a:rPr sz="105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95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16152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SDK  </a:t>
            </a:r>
            <a:r>
              <a:rPr sz="105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95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16152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Smart contracts  </a:t>
            </a:r>
            <a:r>
              <a:rPr sz="105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95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16152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Web · API · Indexer  </a:t>
            </a:r>
            <a:r>
              <a:rPr sz="105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95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355080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GaleonEntrypoint  </a:t>
            </a:r>
            <a:r>
              <a:rPr sz="105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95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355080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 </a:t>
            </a:r>
            <a:r>
              <a:rPr sz="105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95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355080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GaleonRegistry  </a:t>
            </a:r>
            <a:r>
              <a:rPr sz="105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95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355080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Announcer  </a:t>
            </a:r>
            <a:r>
              <a:rPr sz="105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95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77900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What works today, and what the funded year builds.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ZK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+ blockchain migration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Strong privacy needs an institutional anchor.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 xmlns:a="http://schemas.openxmlformats.org/drawingml/2006/main" xmlns:r="http://schemas.openxmlformats.org/officeDocument/2006/relationships">
        <p:nvSpPr>
          <p:cNvPr id="6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See Galeon live.</a:t>
            </a:r>
          </a:p>
        </p:txBody>
      </p:sp>
      <p:sp xmlns:a="http://schemas.openxmlformats.org/drawingml/2006/main" xmlns:r="http://schemas.openxmlformats.org/officeDocument/2006/relationships">
        <p:nvSpPr>
          <p:cNvPr id="6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Everything here is public. Open the app, read the code, verify on chain.</a:t>
            </a:r>
          </a:p>
        </p:txBody>
      </p:sp>
      <p:sp xmlns:a="http://schemas.openxmlformats.org/drawingml/2006/main">
        <p:nvSpPr>
          <p:cNvPr id="610" name="card"/>
          <p:cNvSpPr>
            <a:spLocks noGrp="1"/>
          </p:cNvSpPr>
          <p:nvPr/>
        </p:nvSpPr>
        <p:spPr>
          <a:xfrm>
            <a:off x="800100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0" name="lbl"/>
          <p:cNvSpPr>
            <a:spLocks noGrp="1"/>
          </p:cNvSpPr>
          <p:nvPr/>
        </p:nvSpPr>
        <p:spPr>
          <a:xfrm>
            <a:off x="1120140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APP</a:t>
            </a:r>
          </a:p>
        </p:txBody>
      </p:sp>
      <p:sp xmlns:a="http://schemas.openxmlformats.org/drawingml/2006/main" xmlns:r="http://schemas.openxmlformats.org/officeDocument/2006/relationships">
        <p:nvSpPr>
          <p:cNvPr id="621" name="lnk"/>
          <p:cNvSpPr>
            <a:spLocks noGrp="1"/>
          </p:cNvSpPr>
          <p:nvPr/>
        </p:nvSpPr>
        <p:spPr>
          <a:xfrm>
            <a:off x="1120140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2" name="d"/>
          <p:cNvSpPr>
            <a:spLocks noGrp="1"/>
          </p:cNvSpPr>
          <p:nvPr/>
        </p:nvSpPr>
        <p:spPr>
          <a:xfrm>
            <a:off x="1120140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The product you just watched.</a:t>
            </a:r>
          </a:p>
        </p:txBody>
      </p:sp>
      <p:sp xmlns:a="http://schemas.openxmlformats.org/drawingml/2006/main">
        <p:nvSpPr>
          <p:cNvPr id="611" name="card"/>
          <p:cNvSpPr>
            <a:spLocks noGrp="1"/>
          </p:cNvSpPr>
          <p:nvPr/>
        </p:nvSpPr>
        <p:spPr>
          <a:xfrm>
            <a:off x="4379976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3" name="lbl"/>
          <p:cNvSpPr>
            <a:spLocks noGrp="1"/>
          </p:cNvSpPr>
          <p:nvPr/>
        </p:nvSpPr>
        <p:spPr>
          <a:xfrm>
            <a:off x="4700016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624" name="lnk"/>
          <p:cNvSpPr>
            <a:spLocks noGrp="1"/>
          </p:cNvSpPr>
          <p:nvPr/>
        </p:nvSpPr>
        <p:spPr>
          <a:xfrm>
            <a:off x="4700016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5" name="d"/>
          <p:cNvSpPr>
            <a:spLocks noGrp="1"/>
          </p:cNvSpPr>
          <p:nvPr/>
        </p:nvSpPr>
        <p:spPr>
          <a:xfrm>
            <a:off x="4700016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Apps, packages, contracts, tests.</a:t>
            </a:r>
          </a:p>
        </p:txBody>
      </p:sp>
      <p:sp xmlns:a="http://schemas.openxmlformats.org/drawingml/2006/main">
        <p:nvSpPr>
          <p:cNvPr id="612" name="card"/>
          <p:cNvSpPr>
            <a:spLocks noGrp="1"/>
          </p:cNvSpPr>
          <p:nvPr/>
        </p:nvSpPr>
        <p:spPr>
          <a:xfrm>
            <a:off x="7964424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6" name="lbl"/>
          <p:cNvSpPr>
            <a:spLocks noGrp="1"/>
          </p:cNvSpPr>
          <p:nvPr/>
        </p:nvSpPr>
        <p:spPr>
          <a:xfrm>
            <a:off x="8284464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627" name="lnk"/>
          <p:cNvSpPr>
            <a:spLocks noGrp="1"/>
          </p:cNvSpPr>
          <p:nvPr/>
        </p:nvSpPr>
        <p:spPr>
          <a:xfrm>
            <a:off x="8284464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8" name="d"/>
          <p:cNvSpPr>
            <a:spLocks noGrp="1"/>
          </p:cNvSpPr>
          <p:nvPr/>
        </p:nvSpPr>
        <p:spPr>
          <a:xfrm>
            <a:off x="8284464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Deposits, ASP roots, withdrawals.</a:t>
            </a:r>
          </a:p>
        </p:txBody>
      </p:sp>
      <p:sp xmlns:a="http://schemas.openxmlformats.org/drawingml/2006/main" xmlns:r="http://schemas.openxmlformats.org/officeDocument/2006/relationships">
        <p:nvSpPr>
          <p:cNvPr id="641" name="ty"/>
          <p:cNvSpPr>
            <a:spLocks noGrp="1"/>
          </p:cNvSpPr>
          <p:nvPr/>
        </p:nvSpPr>
        <p:spPr>
          <a:xfrm>
            <a:off x="800100" y="4617720"/>
            <a:ext cx="10588752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 xml:space="preserve">Thank you. We are ready for your questions.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 xmlns:a="http://schemas.openxmlformats.org/drawingml/2006/main" xmlns:r="http://schemas.openxmlformats.org/officeDocument/2006/relationships">
        <p:nvSpPr>
          <p:cNvPr id="7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Pitch</a:t>
            </a:r>
          </a:p>
        </p:txBody>
      </p:sp>
      <p:sp xmlns:a="http://schemas.openxmlformats.org/drawingml/2006/main">
        <p:nvSpPr>
          <p:cNvPr id="701" name="card"/>
          <p:cNvSpPr>
            <a:spLocks noGrp="1"/>
          </p:cNvSpPr>
          <p:nvPr/>
        </p:nvSpPr>
        <p:spPr>
          <a:xfrm>
            <a:off x="800100" y="2148840"/>
            <a:ext cx="10588752" cy="21488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702" name="body"/>
          <p:cNvSpPr>
            <a:spLocks noGrp="1"/>
          </p:cNvSpPr>
          <p:nvPr/>
        </p:nvSpPr>
        <p:spPr>
          <a:xfrm>
            <a:off x="1216152" y="2148840"/>
            <a:ext cx="9756648" cy="2148840"/>
          </a:xfrm>
          <a:prstGeom prst="rect">
            <a:avLst/>
          </a:prstGeom>
          <a:noFill/>
          <a:ln w="0">
            <a:noFill/>
          </a:ln>
        </p:spPr>
        <p:txBody>
          <a:bodyPr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 xml:space="preserve">Galeon is an open-source privacy infrastructure for public blockchains, providing a framework for auditable payments without exposing transaction owners, built for humanitarian programs.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