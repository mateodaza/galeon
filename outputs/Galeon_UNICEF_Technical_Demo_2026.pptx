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d5ed699ccc4ac7" /><Relationship Type="http://schemas.openxmlformats.org/officeDocument/2006/relationships/extended-properties" Target="/docProps/app.xml" Id="R84d2b31a202d4cb1" /><Relationship Type="http://schemas.openxmlformats.org/officeDocument/2006/relationships/officeDocument" Target="/ppt/presentation.xml" Id="Rc7cb1aa8d4ae45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7f96cf4a3c4066"/>
  </p:sldMasterIdLst>
  <p:notesMasterIdLst>
    <p:notesMasterId xmlns:r="http://schemas.openxmlformats.org/officeDocument/2006/relationships" r:id="R9626989156e047e7"/>
  </p:notesMasterIdLst>
  <p:sldIdLst>
    <p:sldId xmlns:r="http://schemas.openxmlformats.org/officeDocument/2006/relationships" id="256" r:id="Rcf9f32f5bfe940d9"/>
    <p:sldId xmlns:r="http://schemas.openxmlformats.org/officeDocument/2006/relationships" id="257" r:id="R210ae5f0aaff43ea"/>
    <p:sldId xmlns:r="http://schemas.openxmlformats.org/officeDocument/2006/relationships" id="258" r:id="R72980a0bb84f4475"/>
    <p:sldId xmlns:r="http://schemas.openxmlformats.org/officeDocument/2006/relationships" id="259" r:id="R0d8a643ac4c24e7b"/>
    <p:sldId xmlns:r="http://schemas.openxmlformats.org/officeDocument/2006/relationships" id="260" r:id="R78cd29de57ce4044"/>
    <p:sldId xmlns:r="http://schemas.openxmlformats.org/officeDocument/2006/relationships" id="261" r:id="Re37a90d3e89a4bf1"/>
    <p:sldId xmlns:r="http://schemas.openxmlformats.org/officeDocument/2006/relationships" id="262" r:id="R0a19dcb5c4e64a46"/>
    <p:sldId xmlns:r="http://schemas.openxmlformats.org/officeDocument/2006/relationships" id="263" r:id="Rb51aab30981d47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84d0a7097d4ac8" /><Relationship Type="http://schemas.openxmlformats.org/officeDocument/2006/relationships/slideMaster" Target="/ppt/slideMasters/slideMaster1.xml" Id="Ree7f96cf4a3c4066" /><Relationship Type="http://schemas.openxmlformats.org/officeDocument/2006/relationships/notesMaster" Target="/ppt/notesMasters/notesMaster1.xml" Id="R9626989156e047e7" /><Relationship Type="http://schemas.openxmlformats.org/officeDocument/2006/relationships/presProps" Target="/ppt/presProps.xml" Id="R819f826f25ad447d" /><Relationship Type="http://schemas.openxmlformats.org/officeDocument/2006/relationships/tableStyles" Target="/ppt/tableStyles.xml" Id="R5619cdb1304e48d2" /><Relationship Type="http://schemas.openxmlformats.org/officeDocument/2006/relationships/slide" Target="/ppt/slides/slide1.xml" Id="Rcf9f32f5bfe940d9" /><Relationship Type="http://schemas.openxmlformats.org/officeDocument/2006/relationships/slide" Target="/ppt/slides/slide2.xml" Id="R210ae5f0aaff43ea" /><Relationship Type="http://schemas.openxmlformats.org/officeDocument/2006/relationships/slide" Target="/ppt/slides/slide3.xml" Id="R72980a0bb84f4475" /><Relationship Type="http://schemas.openxmlformats.org/officeDocument/2006/relationships/slide" Target="/ppt/slides/slide4.xml" Id="R0d8a643ac4c24e7b" /><Relationship Type="http://schemas.openxmlformats.org/officeDocument/2006/relationships/slide" Target="/ppt/slides/slide5.xml" Id="R78cd29de57ce4044" /><Relationship Type="http://schemas.openxmlformats.org/officeDocument/2006/relationships/slide" Target="/ppt/slides/slide6.xml" Id="Re37a90d3e89a4bf1" /><Relationship Type="http://schemas.openxmlformats.org/officeDocument/2006/relationships/slide" Target="/ppt/slides/slide7.xml" Id="R0a19dcb5c4e64a46" /><Relationship Type="http://schemas.openxmlformats.org/officeDocument/2006/relationships/slide" Target="/ppt/slides/slide8.xml" Id="Rb51aab30981d47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bdeb181f0c4d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209f745aef485a" /><Relationship Type="http://schemas.openxmlformats.org/officeDocument/2006/relationships/notesMaster" Target="/ppt/notesMasters/notesMaster1.xml" Id="R1c729f051bf944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5005a8e7e042bb" /><Relationship Type="http://schemas.openxmlformats.org/officeDocument/2006/relationships/notesMaster" Target="/ppt/notesMasters/notesMaster1.xml" Id="R076d3b5a2d0140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66818e80a648ed" /><Relationship Type="http://schemas.openxmlformats.org/officeDocument/2006/relationships/notesMaster" Target="/ppt/notesMasters/notesMaster1.xml" Id="R588de771c79f49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babbb544814c30" /><Relationship Type="http://schemas.openxmlformats.org/officeDocument/2006/relationships/notesMaster" Target="/ppt/notesMasters/notesMaster1.xml" Id="Ra3e56e4dcc4044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9b6ebb4ec84aad" /><Relationship Type="http://schemas.openxmlformats.org/officeDocument/2006/relationships/notesMaster" Target="/ppt/notesMasters/notesMaster1.xml" Id="Rdf1e8f444d7d4d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6056f4d81e415f" /><Relationship Type="http://schemas.openxmlformats.org/officeDocument/2006/relationships/notesMaster" Target="/ppt/notesMasters/notesMaster1.xml" Id="R9e3870ac468a41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c1d1eb99b04312" /><Relationship Type="http://schemas.openxmlformats.org/officeDocument/2006/relationships/notesMaster" Target="/ppt/notesMasters/notesMaster1.xml" Id="R8f572baa8a8f46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b040e79b8540e7" /><Relationship Type="http://schemas.openxmlformats.org/officeDocument/2006/relationships/notesMaster" Target="/ppt/notesMasters/notesMaster1.xml" Id="R1f2f9c9d060f45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6218be7a04c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4705037c8a44ef" /><Relationship Type="http://schemas.openxmlformats.org/officeDocument/2006/relationships/slideLayout" Target="/ppt/slideLayouts/slideLayout1.xml" Id="R5dcb0f7ce44a4f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cb0f7ce44a4f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fa57fedf043b3" /><Relationship Type="http://schemas.openxmlformats.org/officeDocument/2006/relationships/image" Target="/ppt/media/image.png" Id="Rcdfea45334f84ea5" /><Relationship Type="http://schemas.openxmlformats.org/officeDocument/2006/relationships/image" Target="/ppt/media/image2.png" Id="R675a268b3cd44231" /><Relationship Type="http://schemas.openxmlformats.org/officeDocument/2006/relationships/image" Target="/ppt/media/image3.png" Id="R6df4971958b54d2e" /><Relationship Type="http://schemas.openxmlformats.org/officeDocument/2006/relationships/notesSlide" Target="/ppt/notesSlides/notesSlide1.xml" Id="R7a1dcc0f7acd46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e446535504a90" /><Relationship Type="http://schemas.openxmlformats.org/officeDocument/2006/relationships/image" Target="/ppt/media/image4.png" Id="R892c96610caa4945" /><Relationship Type="http://schemas.openxmlformats.org/officeDocument/2006/relationships/image" Target="/ppt/media/image5.png" Id="Rab010e95464b4b73" /><Relationship Type="http://schemas.openxmlformats.org/officeDocument/2006/relationships/notesSlide" Target="/ppt/notesSlides/notesSlide2.xml" Id="R699e873fd46d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9744b5c8e4403" /><Relationship Type="http://schemas.openxmlformats.org/officeDocument/2006/relationships/image" Target="/ppt/media/image6.png" Id="Ra114d251b4194a37" /><Relationship Type="http://schemas.openxmlformats.org/officeDocument/2006/relationships/image" Target="/ppt/media/image7.png" Id="R3323cb76ffb14c8d" /><Relationship Type="http://schemas.openxmlformats.org/officeDocument/2006/relationships/notesSlide" Target="/ppt/notesSlides/notesSlide3.xml" Id="Rc1029f283ba447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6665f903e49b3" /><Relationship Type="http://schemas.openxmlformats.org/officeDocument/2006/relationships/image" Target="/ppt/media/image8.png" Id="Recfcb090f7b84dff" /><Relationship Type="http://schemas.openxmlformats.org/officeDocument/2006/relationships/image" Target="/ppt/media/image9.png" Id="R6d260c7dd61f4ae8" /><Relationship Type="http://schemas.openxmlformats.org/officeDocument/2006/relationships/notesSlide" Target="/ppt/notesSlides/notesSlide4.xml" Id="Ra701ad02407f4f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d6d4f24724690" /><Relationship Type="http://schemas.openxmlformats.org/officeDocument/2006/relationships/image" Target="/ppt/media/image10.png" Id="R723075fb5988445b" /><Relationship Type="http://schemas.openxmlformats.org/officeDocument/2006/relationships/image" Target="/ppt/media/image11.png" Id="R4b8301adf253448c" /><Relationship Type="http://schemas.openxmlformats.org/officeDocument/2006/relationships/notesSlide" Target="/ppt/notesSlides/notesSlide5.xml" Id="R377d477e3e3f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fdaa492d94849" /><Relationship Type="http://schemas.openxmlformats.org/officeDocument/2006/relationships/image" Target="/ppt/media/image12.png" Id="Rf20870b999244db7" /><Relationship Type="http://schemas.openxmlformats.org/officeDocument/2006/relationships/image" Target="/ppt/media/image13.png" Id="R99eab8053b65400f" /><Relationship Type="http://schemas.openxmlformats.org/officeDocument/2006/relationships/notesSlide" Target="/ppt/notesSlides/notesSlide6.xml" Id="R469af92a126042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4bc029c14431d" /><Relationship Type="http://schemas.openxmlformats.org/officeDocument/2006/relationships/image" Target="/ppt/media/image14.png" Id="Recf95f9438b744cc" /><Relationship Type="http://schemas.openxmlformats.org/officeDocument/2006/relationships/image" Target="/ppt/media/image15.png" Id="R9ffb3e37758a4a3e" /><Relationship Type="http://schemas.openxmlformats.org/officeDocument/2006/relationships/notesSlide" Target="/ppt/notesSlides/notesSlide7.xml" Id="R0320a98b3d2549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eb74ec0d34eca" /><Relationship Type="http://schemas.openxmlformats.org/officeDocument/2006/relationships/image" Target="/ppt/media/image16.png" Id="R3d4e2fac494a4eb7" /><Relationship Type="http://schemas.openxmlformats.org/officeDocument/2006/relationships/image" Target="/ppt/media/image17.png" Id="R97aaa87c20104c78" /><Relationship Type="http://schemas.openxmlformats.org/officeDocument/2006/relationships/notesSlide" Target="/ppt/notesSlides/notesSlide8.xml" Id="R2ece13a687d041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ea45334f84e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540AC-31F0-4BCE-9BA2-276D8D04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6A99E-24F8-4413-916C-86E3FB3B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a268b3cd44231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B5915-58ED-4E3F-B353-4CE15EFC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FD9C3-E269-476A-8467-3F32CA63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5B540-AE05-4041-9B6B-8BBB6BBA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1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B2EB1-53B5-469E-B27A-AC9DDBBE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86CCC-8553-4D01-A67A-40A98FD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6258E-9E87-46EF-B79C-FC8E53EA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625EB-51BA-48CD-98C1-B9CE1CB3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E83B7-5FD5-4B9E-A2C1-B2A3ADE8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5D041-6CDE-4F06-8C5B-83334DBD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BAF03-6301-4DE6-9667-F286FD85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441FA-435F-41BD-AC88-06AA90C6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4971958b54d2e"/>
          <a:stretch xmlns:a="http://schemas.openxmlformats.org/drawingml/2006/main"/>
        </p:blipFill>
        <p:spPr>
          <a:xfrm xmlns:a="http://schemas.openxmlformats.org/drawingml/2006/main">
            <a:off x="5467350" y="11811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298DD-AD9D-4CBD-A4F6-86C9AABE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24125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E5888-72CD-487C-B021-BE8E45C2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718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D5E6EC"/>
                </a:solidFill>
              </a:defRPr>
            </a:pPr>
            <a:r>
              <a:rPr sz="2325" b="0">
                <a:solidFill>
                  <a:srgbClr val="D5E6EC"/>
                </a:solidFill>
              </a:rPr>
              <a:t>Private payments for public blockchains.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4A50B-16C5-43B3-B366-9A844F36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71950"/>
            <a:ext cx="617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20B18">
              <a:alpha val="56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CBFC3-8111-46A1-A6E7-3690FF41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52925"/>
            <a:ext cx="556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Public accountability without public beneficiary histories.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9D8C6-27F9-47D1-B59E-49BA7B80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3400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EEBF2"/>
                </a:solidFill>
              </a:defRPr>
            </a:pPr>
            <a:r>
              <a:rPr sz="1050" b="0">
                <a:solidFill>
                  <a:srgbClr val="9EEBF2"/>
                </a:solidFill>
              </a:rPr>
              <a:t>Open source  ·  Live on Mantle  ·  Built by Mateo Daza and Carlos Quintero</a:t>
            </a:r>
          </a:p>
        </p:txBody>
      </p:sp>
    </p:spTree>
    <p:extLst>
      <p:ext uri="{BB962C8B-B14F-4D97-AF65-F5344CB8AC3E}">
        <p14:creationId xmlns:p14="http://schemas.microsoft.com/office/powerpoint/2010/main" val="12100511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c96610caa494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5113B-25A7-4A91-982A-005B290B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845DD-58AA-431C-9286-BA7280D5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10e95464b4b73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27D48-CC95-4265-8222-C348D62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94F6C-902A-461E-8D04-66677921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F28EF-D55A-4313-8D43-342A69FC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2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F22A9-8002-4CFF-B711-05B4F418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81C3A-0AEB-4017-94D9-8293C21A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7F07E-DB1E-4B5A-8EAD-A4DF01EA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A4431-4EE7-46A2-A24C-DB10D6E5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FE5D6-C738-4D58-9B19-78B16BA9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88E90-57E6-4D8D-97EE-2CCE9033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0DC55-3B8E-44B6-9C75-1D299E7B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9F48C-FFD0-472D-A6BD-A68AC4C9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44359-A1BE-4954-95B8-44D69DAA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059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Two founders built Galeon. Five people own the funded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BA2FC-17C1-4D82-9205-168957C9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05918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020B18">
              <a:alpha val="72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E85EDE-9894-40AF-A9BE-089EC42C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2F2"/>
                </a:solidFill>
              </a:defRPr>
            </a:pPr>
            <a:r>
              <a:rPr sz="825" b="1">
                <a:solidFill>
                  <a:srgbClr val="38E2F2"/>
                </a:solidFill>
              </a:rPr>
              <a:t>BUILT BY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7FD63-8067-449A-B1EB-01AB7C5A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Mateo Daza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522B32-CAF6-4C25-AD65-79E2B31D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AB5"/>
                </a:solidFill>
              </a:defRPr>
            </a:pPr>
            <a:r>
              <a:rPr sz="1275" b="0">
                <a:solidFill>
                  <a:srgbClr val="91AAB5"/>
                </a:solidFill>
              </a:rPr>
              <a:t>Product + 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0E150-327F-49B2-A7F3-99A31554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Carlos Quintero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8323E-AAD2-443A-AF21-6A77C500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AB5"/>
                </a:solidFill>
              </a:defRPr>
            </a:pPr>
            <a:r>
              <a:rPr sz="1275" b="0">
                <a:solidFill>
                  <a:srgbClr val="91AAB5"/>
                </a:solidFill>
              </a:rPr>
              <a:t>Backend + protocol · Lead developer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4E3E7-674D-4DB1-9A89-2EEAAFDE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764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B135B-0A0A-4F7C-A7D5-5458CE38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57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2F2"/>
                </a:solidFill>
              </a:defRPr>
            </a:pPr>
            <a:r>
              <a:rPr sz="825" b="1">
                <a:solidFill>
                  <a:srgbClr val="38E2F2"/>
                </a:solidFill>
              </a:rPr>
              <a:t>FUNDED DELIVERY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131DC-2501-416F-9CC2-AB290282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19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Fabio Anaya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D6C7F7-FDEC-4D93-8207-E5AACC97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AB5"/>
                </a:solidFill>
              </a:defRPr>
            </a:pPr>
            <a:r>
              <a:rPr sz="1200" b="0">
                <a:solidFill>
                  <a:srgbClr val="91AAB5"/>
                </a:solidFill>
              </a:rPr>
              <a:t>Growth + partnerships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CB984-0321-4EFA-82B5-3F9E1EFE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57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Juan David Correa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3737B5-7C24-450F-B66B-B2345392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00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AB5"/>
                </a:solidFill>
              </a:defRPr>
            </a:pPr>
            <a:r>
              <a:rPr sz="1200" b="0">
                <a:solidFill>
                  <a:srgbClr val="91AAB5"/>
                </a:solidFill>
              </a:rPr>
              <a:t>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31B0C-AE6B-4364-81C8-5094D4F0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95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Juan José Sanfeliú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275992-365B-47D2-B345-5288EF56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386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AB5"/>
                </a:solidFill>
              </a:defRPr>
            </a:pPr>
            <a:r>
              <a:rPr sz="1200" b="0">
                <a:solidFill>
                  <a:srgbClr val="91AAB5"/>
                </a:solidFill>
              </a:rPr>
              <a:t>Marketing + community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FD28D3-DF26-46EB-B35E-A1AB3E17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2B8173-944A-4F2C-9499-F8551A09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E6EC"/>
                </a:solidFill>
              </a:defRPr>
            </a:pPr>
            <a:r>
              <a:rPr sz="1200" b="0">
                <a:solidFill>
                  <a:srgbClr val="D5E6EC"/>
                </a:solidFill>
              </a:rPr>
              <a:t>Cartagena On Chain is the applicant and proposed funded-period operator.</a:t>
            </a:r>
          </a:p>
        </p:txBody>
      </p:sp>
    </p:spTree>
    <p:extLst>
      <p:ext uri="{BB962C8B-B14F-4D97-AF65-F5344CB8AC3E}">
        <p14:creationId xmlns:p14="http://schemas.microsoft.com/office/powerpoint/2010/main" val="20788371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4d251b4194a3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43501-15E3-4431-9902-6F347135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6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B5951-2E78-4B89-80C5-B3CD13B0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3cb76ffb14c8d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5D872-FFEE-4DBB-9BA3-2F29131E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BF411-1CC1-4DEE-9A4D-B6042DBE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5AC73-17B3-45FC-A13F-FD5B7319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3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A8D0B-7BCA-433E-802C-2E823095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88F04-FCF0-4CE0-88FB-B494429F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643A8-D691-4E64-AADB-E0C0D6AB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445B7-9F8D-47E1-9303-1D594520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EA142-DA1D-45EE-8475-D221852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4FA49-C262-49E3-8AEC-167D31C7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311D3-B89D-4E33-A1D9-5A5341F7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946E3-4C1F-4A7E-8E44-7748C41B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25976-4ECB-49E3-B7AB-2D7D92B6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059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Privacy is not one switch.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72F6C-BE0B-4585-B4DD-4362B2E7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6EC"/>
                </a:solidFill>
              </a:defRPr>
            </a:pPr>
            <a:r>
              <a:rPr sz="1500" b="0">
                <a:solidFill>
                  <a:srgbClr val="D5E6EC"/>
                </a:solidFill>
              </a:rPr>
              <a:t>Galeon separates receiver privacy, transaction privacy, and policy.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57A09-FC6A-4043-812D-E6925D43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591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20B18">
              <a:alpha val="74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DBF07-514F-4B5E-B31E-723E2DBD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E2F2"/>
                </a:solidFill>
              </a:defRPr>
            </a:pPr>
            <a:r>
              <a:rPr sz="1350" b="1">
                <a:solidFill>
                  <a:srgbClr val="38E2F2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38CAD-2737-47F4-B1F3-90C3D97F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FCD91-50C9-4820-BD3C-F7AAFFFC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6EC"/>
                </a:solidFill>
              </a:defRPr>
            </a:pPr>
            <a:r>
              <a:rPr sz="1350" b="0">
                <a:solidFill>
                  <a:srgbClr val="D5E6EC"/>
                </a:solidFill>
              </a:rPr>
              <a:t>A fresh stealth address for every payment.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6F436-5E7C-41AB-929C-5DF2A391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5E6B5"/>
                </a:solidFill>
              </a:defRPr>
            </a:pPr>
            <a:r>
              <a:rPr sz="825" b="1">
                <a:solidFill>
                  <a:srgbClr val="75E6B5"/>
                </a:solidFill>
              </a:rPr>
              <a:t>LIVE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DEE1B-FF1A-4545-B670-B1C31085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431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B3D62-95B8-4567-B6F8-083CBD55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E2F2"/>
                </a:solidFill>
              </a:defRPr>
            </a:pPr>
            <a:r>
              <a:rPr sz="1350" b="1">
                <a:solidFill>
                  <a:srgbClr val="38E2F2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56AB2-9920-4A75-A926-A154589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Privacy Pool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07721-636A-4616-BB11-659106E6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6EC"/>
                </a:solidFill>
              </a:defRPr>
            </a:pPr>
            <a:r>
              <a:rPr sz="1350" b="0">
                <a:solidFill>
                  <a:srgbClr val="D5E6EC"/>
                </a:solidFill>
              </a:rPr>
              <a:t>A ZK proof breaks the public deposit-to-withdrawal link.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C4D5A-61CA-4982-B159-A75D23CC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5E6B5"/>
                </a:solidFill>
              </a:defRPr>
            </a:pPr>
            <a:r>
              <a:rPr sz="825" b="1">
                <a:solidFill>
                  <a:srgbClr val="75E6B5"/>
                </a:solidFill>
              </a:rPr>
              <a:t>LIVE · NATIVE MNT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801D1-7B5B-47FB-9641-B73C460B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31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E4DA13-673B-4C01-B98D-8B5FA6CC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E2F2"/>
                </a:solidFill>
              </a:defRPr>
            </a:pPr>
            <a:r>
              <a:rPr sz="1350" b="1">
                <a:solidFill>
                  <a:srgbClr val="38E2F2"/>
                </a:solidFill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40361-54C4-4583-8C4A-090F2F2F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ASP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EC6F14-9E36-49C9-8EB6-23CFFB3A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6EC"/>
                </a:solidFill>
              </a:defRPr>
            </a:pPr>
            <a:r>
              <a:rPr sz="1350" b="0">
                <a:solidFill>
                  <a:srgbClr val="D5E6EC"/>
                </a:solidFill>
              </a:rPr>
              <a:t>A policy gate decides which deposits may withdraw privately.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F3D611-67BC-4B31-B83E-AAD614B5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C36B"/>
                </a:solidFill>
              </a:defRPr>
            </a:pPr>
            <a:r>
              <a:rPr sz="825" b="1">
                <a:solidFill>
                  <a:srgbClr val="F6C36B"/>
                </a:solidFill>
              </a:rPr>
              <a:t>AUTO-APPROVES TODAY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04CA32-18BE-4FF1-B4A7-D913E7F5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2F2"/>
                </a:solidFill>
              </a:defRPr>
            </a:pPr>
            <a:r>
              <a:rPr sz="825" b="1">
                <a:solidFill>
                  <a:srgbClr val="38E2F2"/>
                </a:solidFill>
              </a:rPr>
              <a:t>WHAT UNICEF ADDS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A62924-3DDB-4330-8FFB-CD37270D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1059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Safeguarding gates, realistic usage patterns, and a tested incident response.</a:t>
            </a:r>
          </a:p>
        </p:txBody>
      </p:sp>
    </p:spTree>
    <p:extLst>
      <p:ext uri="{BB962C8B-B14F-4D97-AF65-F5344CB8AC3E}">
        <p14:creationId xmlns:p14="http://schemas.microsoft.com/office/powerpoint/2010/main" val="10446571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cb090f7b84df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6A5EC-6DED-4587-9499-4E86F335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3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2A32A-E9C0-43F1-B316-76C8D35F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60c7dd61f4ae8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3D127-AEC1-48FC-BD71-57FF6F8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53C45-9A24-4F57-8FF2-6A03F2D1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21240-8FEB-43F5-828F-44BE71B0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4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2CA0B-0228-4DD1-9811-ED0215AE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64ABC-BED2-4B68-A756-AA93958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943CF-F9F5-4D80-A198-82B3A649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62220-3022-4093-9B73-02484AB7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49F60-5E50-485A-8176-4432377D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267B5-14C3-4D85-89CD-D6CA1744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CA8C4-71F2-448C-8E6B-3489B32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A00AD-4E55-440F-B585-A8825AEE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417B4-6C7A-4D59-903A-E92B14B4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2F2"/>
                </a:solidFill>
              </a:defRPr>
            </a:pPr>
            <a:r>
              <a:rPr sz="825" b="1">
                <a:solidFill>
                  <a:srgbClr val="38E2F2"/>
                </a:solidFill>
              </a:rPr>
              <a:t>LIVE 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645C7-681E-4A3B-9134-9E41CCCB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One private withdrawal, verified live.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A7138-4DC2-4AFE-8137-C58BAC9C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7524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20B18">
              <a:alpha val="64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14863-6759-433F-B37B-426D0736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AAB5"/>
                </a:solidFill>
              </a:defRPr>
            </a:pPr>
            <a:r>
              <a:rPr sz="1575" b="0">
                <a:solidFill>
                  <a:srgbClr val="91AAB5"/>
                </a:solidFill>
              </a:rPr>
              <a:t>Pre-staged deposit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8300D-0511-43D7-80AC-52FE8B47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Client-generated ZK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C9374-0C77-4143-8191-AE100652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EEBF2"/>
                </a:solidFill>
              </a:defRPr>
            </a:pPr>
            <a:r>
              <a:rPr sz="1950" b="1">
                <a:solidFill>
                  <a:srgbClr val="9EEBF2"/>
                </a:solidFill>
              </a:rPr>
              <a:t>Mantlescan shows the relayer, not the depositor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B3EA7-AF7B-46A8-B660-C8AECE14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6EC"/>
                </a:solidFill>
              </a:defRPr>
            </a:pPr>
            <a:r>
              <a:rPr sz="1500" b="0">
                <a:solidFill>
                  <a:srgbClr val="D5E6EC"/>
                </a:solidFill>
              </a:rPr>
              <a:t>The recipient and amount remain public. We demonstrate unlinkability, not invisibility.</a:t>
            </a:r>
          </a:p>
        </p:txBody>
      </p:sp>
    </p:spTree>
    <p:extLst>
      <p:ext uri="{BB962C8B-B14F-4D97-AF65-F5344CB8AC3E}">
        <p14:creationId xmlns:p14="http://schemas.microsoft.com/office/powerpoint/2010/main" val="17144681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075fb5988445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C4DE4-841E-4171-B0AD-E410BEA3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A9A0B-B353-4CE2-9A13-12B30C90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301adf253448c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0F38A-1430-4DAA-A817-D90444BE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47D97-23A5-4850-83E9-25BE7790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86EB4-C3BB-4108-A990-C5817502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5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9B2F0-080F-4D0A-8553-CC3B7C1D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19267-6389-4451-9B4C-74D90FA4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97DBE-5BC6-4C85-A98A-53D4ECAA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A0F7C-B206-4638-9D1E-4B93FB33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DD8EA-7D8A-4BC2-9872-18B48CF6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18E5C-CF5D-4BBB-B5D3-761479C9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DFE61-9B75-4FAA-9BEE-64DD3144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CCA48-E2B1-4EFE-8F1D-3BE29CC7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C3C7E-7231-4F9F-BDBD-8B41A01C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1059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The live product and public repository match.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2B829-21AF-4409-8D49-C5D392A3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0591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20B18">
              <a:alpha val="76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F4FB4-D7CA-448C-BF46-6A7091F9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8E2F2"/>
                </a:solidFill>
              </a:defRPr>
            </a:pPr>
            <a:r>
              <a:rPr sz="3300" b="1">
                <a:solidFill>
                  <a:srgbClr val="38E2F2"/>
                </a:solidFill>
              </a:rPr>
              <a:t>537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E3803-ABC8-4338-834C-B1D7F3D1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5E6EC"/>
                </a:solidFill>
              </a:defRPr>
            </a:pPr>
            <a:r>
              <a:rPr sz="1275" b="1">
                <a:solidFill>
                  <a:srgbClr val="D5E6EC"/>
                </a:solidFill>
              </a:rPr>
              <a:t>automated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53EA1-54D4-411C-948A-4DCC00C6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14550"/>
            <a:ext cx="95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91B3B-4E17-457D-B097-42A7C159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8E2F2"/>
                </a:solidFill>
              </a:defRPr>
            </a:pPr>
            <a:r>
              <a:rPr sz="3300" b="1">
                <a:solidFill>
                  <a:srgbClr val="38E2F2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8382E-FEEE-4CAB-A58C-E97ED95C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5E6EC"/>
                </a:solidFill>
              </a:defRPr>
            </a:pPr>
            <a:r>
              <a:rPr sz="1275" b="1">
                <a:solidFill>
                  <a:srgbClr val="D5E6EC"/>
                </a:solidFill>
              </a:rPr>
              <a:t>upstream Oxorio audit reports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D132C-10EF-4FDD-88E4-A284C8CC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14550"/>
            <a:ext cx="95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E83029-B3D6-4D88-A369-D83F49D2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5E6B5"/>
                </a:solidFill>
              </a:defRPr>
            </a:pPr>
            <a:r>
              <a:rPr sz="3300" b="1">
                <a:solidFill>
                  <a:srgbClr val="75E6B5"/>
                </a:solidFill>
              </a:rPr>
              <a:t>LIVE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0AFF25-57F1-4A99-9F79-E41C06CD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5E6EC"/>
                </a:solidFill>
              </a:defRPr>
            </a:pPr>
            <a:r>
              <a:rPr sz="1275" b="1">
                <a:solidFill>
                  <a:srgbClr val="D5E6EC"/>
                </a:solidFill>
              </a:rPr>
              <a:t>native MNT on Mantle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B5013B-683E-4FC9-BA5A-BE67020F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D352D-BF41-40F4-865D-36DAC0D6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EBF2"/>
                </a:solidFill>
              </a:defRPr>
            </a:pPr>
            <a:r>
              <a:rPr sz="1350" b="0">
                <a:solidFill>
                  <a:srgbClr val="9EEBF2"/>
                </a:solidFill>
              </a:rPr>
              <a:t>apps  /  web · api · indexer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36401F-084C-4457-A3F3-0295D121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EBF2"/>
                </a:solidFill>
              </a:defRPr>
            </a:pPr>
            <a:r>
              <a:rPr sz="1350" b="0">
                <a:solidFill>
                  <a:srgbClr val="9EEBF2"/>
                </a:solidFill>
              </a:rPr>
              <a:t>packages  /  stealth · contracts · pool · config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4F622-CA68-41D0-94A4-B1F9E7F7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Mateo and Carlos built Galeon's product-specific work. Privacy Pool foundations derive from 0xbow.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5B614A-A0E7-4069-9F24-B24C6782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AB5"/>
                </a:solidFill>
              </a:defRPr>
            </a:pPr>
            <a:r>
              <a:rPr sz="1050" b="0">
                <a:solidFill>
                  <a:srgbClr val="91AAB5"/>
                </a:solidFill>
              </a:rPr>
              <a:t>MIT for apps and libraries · Apache-2.0 for contracts and pool</a:t>
            </a:r>
          </a:p>
        </p:txBody>
      </p:sp>
    </p:spTree>
    <p:extLst>
      <p:ext uri="{BB962C8B-B14F-4D97-AF65-F5344CB8AC3E}">
        <p14:creationId xmlns:p14="http://schemas.microsoft.com/office/powerpoint/2010/main" val="16712991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870b999244d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C20D8-DCCA-4BEE-BE72-AE261792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22355-B87E-4630-90A5-F9E3E6B3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ab8053b65400f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6062B-2B3F-4DB5-856C-93345C81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B006A-CB00-4830-B6F2-5B41382A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5A6FD-A50F-4CAF-B2CC-CADFDAF7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6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A0733-0FD7-49A2-9EB8-54819F7F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CAE04-651B-40BA-AF62-B58C4FB2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F0A2F-9022-455C-B457-6E6C88B3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4E9E2-BFA8-41AB-890F-D0D061D0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9BF0C-AFE3-433C-8B2E-B491CC27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BB430-E2C5-4CC9-88F3-F499A189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96DE6-E034-46EB-B812-568BB144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39212-9298-4C8E-B2F2-4F66E081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CA33B-966F-4E8A-95DD-D6C7BFF3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059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The product is real. The humanitarian deployment is not finished.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853DF-7979-4705-A039-7D37E7D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105918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20B18">
              <a:alpha val="76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ABC60-C8D9-4F4A-B825-68DDBDEB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5E6B5"/>
                </a:solidFill>
              </a:defRPr>
            </a:pPr>
            <a:r>
              <a:rPr sz="825" b="1">
                <a:solidFill>
                  <a:srgbClr val="75E6B5"/>
                </a:solidFill>
              </a:rPr>
              <a:t>WORKS NOW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42EC5-7832-4A64-8F83-39739EBC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Stealth-address payments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E8998-120E-489E-B66D-AC61709E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Native-MNT privacy pool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4EA54-E89B-4066-9DBE-C3F5D83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Relayed private withdrawal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D1DE1E-B818-4BB5-849D-4194AD47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Public code and licenses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B2B29-01FB-476D-955A-81029AAA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95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75F17C-2C97-476B-9CC9-E4F1358F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28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C36B"/>
                </a:solidFill>
              </a:defRPr>
            </a:pPr>
            <a:r>
              <a:rPr sz="825" b="1">
                <a:solidFill>
                  <a:srgbClr val="F6C36B"/>
                </a:solidFill>
              </a:rPr>
              <a:t>FUNDED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68082-1181-43E7-80A4-E907F66A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28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Stablecoin deployment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AF42A-637B-4C82-A628-186BBFFB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05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Real ASP process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03F77-721D-4660-8FDF-DE0C1854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81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External delta-audit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0A241-AE10-4202-8278-6776780B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57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Controlled partner pilot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3007DF-9B32-460F-9EAC-F575E573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2F2"/>
                </a:solidFill>
              </a:defRPr>
            </a:pPr>
            <a:r>
              <a:rPr sz="825" b="1">
                <a:solidFill>
                  <a:srgbClr val="38E2F2"/>
                </a:solidFill>
              </a:rPr>
              <a:t>PROOF 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D8174B-9C3D-426B-9C40-079AAAC1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Galeon proves settlement and contract rules. Partners prove eligibility, receipt, cash-out, and outcomes.</a:t>
            </a:r>
          </a:p>
        </p:txBody>
      </p:sp>
    </p:spTree>
    <p:extLst>
      <p:ext uri="{BB962C8B-B14F-4D97-AF65-F5344CB8AC3E}">
        <p14:creationId xmlns:p14="http://schemas.microsoft.com/office/powerpoint/2010/main" val="2740590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95f9438b744c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47884-CFC9-4359-B03B-7FC88736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79CDA-9C5C-4117-857E-B9DD8B6A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b3e37758a4a3e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FBCF3-EA03-4DC6-81E9-2EB1028F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AB207-C277-4588-8343-CD138E1F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0B621-2BA0-4C4C-8210-F9408BFF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7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E2EBC-0A53-4AE4-B5B5-227FAA9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72767-3ABF-44A0-BCA7-E76564C8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99484-5750-486E-A807-10C79F72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718B9-38BB-47AB-B2AE-94BA24EB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0CAEA-D9FD-4002-97AF-C33097B8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85D52-2182-4810-A544-C7527F6E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6A4FB-47CA-4C05-AF68-F8C2ADF6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9956F-931D-4132-B62C-80023CCF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D98BF-D410-4E03-BE99-48FABC30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059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Without an institutional anchor, the privacy model is too weak.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9EF5B-5EE1-4FDC-9C84-CDB4B4CE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5918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020B18">
              <a:alpha val="74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3FBD0-93FE-4678-99D9-88E995BD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EEBF2"/>
                </a:solidFill>
              </a:defRPr>
            </a:pPr>
            <a:r>
              <a:rPr sz="1800" b="1">
                <a:solidFill>
                  <a:srgbClr val="9EEBF2"/>
                </a:solidFill>
              </a:rPr>
              <a:t>Accountable ASP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F55E6-9233-4B9A-AC93-95AD8B4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6EC"/>
                </a:solidFill>
              </a:defRPr>
            </a:pPr>
            <a:r>
              <a:rPr sz="1350" b="0">
                <a:solidFill>
                  <a:srgbClr val="D5E6EC"/>
                </a:solidFill>
              </a:rPr>
              <a:t>Rules, review, appeals, and public attestations.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77051-ED7D-44D8-8C42-5C4BB162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81250"/>
            <a:ext cx="95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12711-F785-453C-8621-D395A7FD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EEBF2"/>
                </a:solidFill>
              </a:defRPr>
            </a:pPr>
            <a:r>
              <a:rPr sz="1800" b="1">
                <a:solidFill>
                  <a:srgbClr val="9EEBF2"/>
                </a:solidFill>
              </a:rPr>
              <a:t>Active deposit 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F52F7-380E-4FF7-B5F6-5127B3CD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6EC"/>
                </a:solidFill>
              </a:defRPr>
            </a:pPr>
            <a:r>
              <a:rPr sz="1350" b="0">
                <a:solidFill>
                  <a:srgbClr val="D5E6EC"/>
                </a:solidFill>
              </a:rPr>
              <a:t>Meaningful approved participation, not just a pool balance.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65C7D-7181-4E88-B5A7-C52722CB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95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17F2C-F338-4BC1-9ADC-93EC41B8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EEBF2"/>
                </a:solidFill>
              </a:defRPr>
            </a:pPr>
            <a:r>
              <a:rPr sz="1800" b="1">
                <a:solidFill>
                  <a:srgbClr val="9EEBF2"/>
                </a:solidFill>
              </a:rPr>
              <a:t>Partner delivery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9CCA5D-DCD3-4BE7-9B17-E9748D98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6EC"/>
                </a:solidFill>
              </a:defRPr>
            </a:pPr>
            <a:r>
              <a:rPr sz="1350" b="0">
                <a:solidFill>
                  <a:srgbClr val="D5E6EC"/>
                </a:solidFill>
              </a:rPr>
              <a:t>Enrollment, cash-out, support, and safeguarding.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32403-66FB-42E7-8FE5-A565F916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59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UNICEF can help test all three under real safeguarding constraints.</a:t>
            </a:r>
          </a:p>
        </p:txBody>
      </p:sp>
    </p:spTree>
    <p:extLst>
      <p:ext uri="{BB962C8B-B14F-4D97-AF65-F5344CB8AC3E}">
        <p14:creationId xmlns:p14="http://schemas.microsoft.com/office/powerpoint/2010/main" val="1401052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e2fac494a4e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8B8D5-EA81-490D-90C4-85A20F88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60B36-F632-4B95-8660-8EB50423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B18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aa87c20104c78"/>
          <a:stretch xmlns:a="http://schemas.openxmlformats.org/drawingml/2006/main"/>
        </p:blipFill>
        <p:spPr>
          <a:xfrm xmlns:a="http://schemas.openxmlformats.org/drawingml/2006/main">
            <a:off x="266700" y="152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6BB93-B781-4B7F-9906-CB350233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Galeon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9474D-C60A-4162-AE7C-58396432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EEBF2"/>
                </a:solidFill>
              </a:defRPr>
            </a:pPr>
            <a:r>
              <a:rPr sz="750" b="1">
                <a:solidFill>
                  <a:srgbClr val="9EEBF2"/>
                </a:solidFill>
              </a:rPr>
              <a:t>UNICEF TECHNICAL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2213A-CDC6-4242-A918-0ED176BA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2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AB5"/>
                </a:solidFill>
              </a:defRPr>
            </a:pPr>
            <a:r>
              <a:rPr sz="825" b="0">
                <a:solidFill>
                  <a:srgbClr val="91AAB5"/>
                </a:solidFill>
              </a:rPr>
              <a:t>8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DCC11-3AA7-4764-88D2-9AEF03E4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A2C2D-9691-428E-81D0-99BE54A2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D8A73-4341-4E98-B512-963E36E8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5C0C6-3077-4AA6-913C-1104E0DE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899E5-CA2F-43E3-8A57-E0B8262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61229-EC38-4E1B-B616-B8F81C78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A2BE5-2FDE-4B83-BE6E-0FA8F038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48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6EC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15833-0222-48BD-A70E-3400B261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486525"/>
            <a:ext cx="190500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A194D-D855-45FC-9D89-C35FC6EB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10591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UNICEF can test whether Galeon belongs in a humanitarian cash program.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1AD93-FD63-4CDC-BD6A-03047079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0591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20B18">
              <a:alpha val="74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0375B-670C-4F48-B9F6-81D0A9B9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E2F2"/>
                </a:solidFill>
              </a:defRPr>
            </a:pPr>
            <a:r>
              <a:rPr sz="1875" b="1">
                <a:solidFill>
                  <a:srgbClr val="38E2F2"/>
                </a:solidFill>
              </a:rPr>
              <a:t>Q1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D3760-1F18-4089-91AC-D8DEF98C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E6EC"/>
                </a:solidFill>
              </a:defRPr>
            </a:pPr>
            <a:r>
              <a:rPr sz="1350" b="1">
                <a:solidFill>
                  <a:srgbClr val="D5E6EC"/>
                </a:solidFill>
              </a:rPr>
              <a:t>Stablecoin + hardening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4052B-787F-4A46-A3FE-1EAD4712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05050"/>
            <a:ext cx="95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5CD5B-2174-48CF-82EF-26CB4E6B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E2F2"/>
                </a:solidFill>
              </a:defRPr>
            </a:pPr>
            <a:r>
              <a:rPr sz="1875" b="1">
                <a:solidFill>
                  <a:srgbClr val="38E2F2"/>
                </a:solidFill>
              </a:rPr>
              <a:t>Q2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8BBD5-7098-4932-8284-80093555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956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E6EC"/>
                </a:solidFill>
              </a:defRPr>
            </a:pPr>
            <a:r>
              <a:rPr sz="1350" b="1">
                <a:solidFill>
                  <a:srgbClr val="D5E6EC"/>
                </a:solidFill>
              </a:rPr>
              <a:t>Audit + real ASP + sandbox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190142-D89C-4493-B744-EC1465CB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05050"/>
            <a:ext cx="95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857E5E-9981-4795-B1B0-3E1620AD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F5E27-21FA-419C-8AFB-6E1C9D24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E6EC"/>
                </a:solidFill>
              </a:defRPr>
            </a:pPr>
            <a:r>
              <a:rPr sz="1350" b="1">
                <a:solidFill>
                  <a:srgbClr val="D5E6EC"/>
                </a:solidFill>
              </a:rPr>
              <a:t>Controlled pilot ≤50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35CDCA-CD7A-425B-8B75-744F302F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95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B640B-81D3-4A27-8FB2-A310789B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C53B7-3758-412B-BC83-F988161E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E6EC"/>
                </a:solidFill>
              </a:defRPr>
            </a:pPr>
            <a:r>
              <a:rPr sz="1350" b="1">
                <a:solidFill>
                  <a:srgbClr val="D5E6EC"/>
                </a:solidFill>
              </a:rPr>
              <a:t>Evaluate + expand ≤100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3D54FD-AA3B-4B70-8BF8-58D8DD1A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2F2"/>
                </a:solidFill>
              </a:defRPr>
            </a:pPr>
            <a:r>
              <a:rPr sz="825" b="1">
                <a:solidFill>
                  <a:srgbClr val="38E2F2"/>
                </a:solidFill>
              </a:rPr>
              <a:t>SUSTAINABILITY HYPOTHESES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A3CBEB-9968-4939-9775-A60485CC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1059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Hosting + support  ·  ASP operations  ·  Reporting + integration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108C95-E3DE-47BE-90E2-02EF68B7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59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AB5"/>
                </a:solidFill>
              </a:defRPr>
            </a:pPr>
            <a:r>
              <a:rPr sz="1275" b="0">
                <a:solidFill>
                  <a:srgbClr val="91AAB5"/>
                </a:solidFill>
              </a:rPr>
              <a:t>No current revenue is claimed. The funded period tests whether these services are useful and sustainable.</a:t>
            </a:r>
          </a:p>
        </p:txBody>
      </p:sp>
    </p:spTree>
    <p:extLst>
      <p:ext uri="{BB962C8B-B14F-4D97-AF65-F5344CB8AC3E}">
        <p14:creationId xmlns:p14="http://schemas.microsoft.com/office/powerpoint/2010/main" val="2110480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2026-07-22T01:27:59.5840000Z</dcterms:created>
  <dcterms:modified xsi:type="dcterms:W3CDTF">2026-07-22T01:27:59.5840000Z</dcterms:modified>
</coreProperties>
</file>