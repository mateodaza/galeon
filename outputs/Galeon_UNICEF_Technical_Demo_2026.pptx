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d5ed699ccc4ac7" /><Relationship Type="http://schemas.openxmlformats.org/officeDocument/2006/relationships/extended-properties" Target="/docProps/app.xml" Id="R84d2b31a202d4cb1" /><Relationship Type="http://schemas.openxmlformats.org/officeDocument/2006/relationships/officeDocument" Target="/ppt/presentation.xml" Id="Rc7cb1aa8d4ae45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7f96cf4a3c4066"/>
  </p:sldMasterIdLst>
  <p:notesMasterIdLst>
    <p:notesMasterId xmlns:r="http://schemas.openxmlformats.org/officeDocument/2006/relationships" r:id="R9626989156e047e7"/>
  </p:notesMasterIdLst>
  <p:sldIdLst>
    <p:sldId xmlns:r="http://schemas.openxmlformats.org/officeDocument/2006/relationships" id="256" r:id="Rcf9f32f5bfe940d9"/>
    <p:sldId xmlns:r="http://schemas.openxmlformats.org/officeDocument/2006/relationships" id="257" r:id="R210ae5f0aaff43ea"/>
    <p:sldId xmlns:r="http://schemas.openxmlformats.org/officeDocument/2006/relationships" id="258" r:id="R72980a0bb84f4475"/>
    <p:sldId xmlns:r="http://schemas.openxmlformats.org/officeDocument/2006/relationships" id="259" r:id="R0d8a643ac4c24e7b"/>
    <p:sldId xmlns:r="http://schemas.openxmlformats.org/officeDocument/2006/relationships" id="260" r:id="rId1"/>
    <p:sldId xmlns:r="http://schemas.openxmlformats.org/officeDocument/2006/relationships" id="261" r:id="R78cd29de57ce4044"/>
    <p:sldId xmlns:r="http://schemas.openxmlformats.org/officeDocument/2006/relationships" id="262" r:id="Re37a90d3e89a4bf1"/>
    <p:sldId xmlns:r="http://schemas.openxmlformats.org/officeDocument/2006/relationships" id="263" r:id="R0a19dcb5c4e64a46"/>
    <p:sldId xmlns:r="http://schemas.openxmlformats.org/officeDocument/2006/relationships" id="264" r:id="Rb51aab30981d47f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84d0a7097d4ac8" /><Relationship Type="http://schemas.openxmlformats.org/officeDocument/2006/relationships/slideMaster" Target="/ppt/slideMasters/slideMaster1.xml" Id="Ree7f96cf4a3c4066" /><Relationship Type="http://schemas.openxmlformats.org/officeDocument/2006/relationships/notesMaster" Target="/ppt/notesMasters/notesMaster1.xml" Id="R9626989156e047e7" /><Relationship Type="http://schemas.openxmlformats.org/officeDocument/2006/relationships/presProps" Target="/ppt/presProps.xml" Id="R819f826f25ad447d" /><Relationship Type="http://schemas.openxmlformats.org/officeDocument/2006/relationships/tableStyles" Target="/ppt/tableStyles.xml" Id="R5619cdb1304e48d2" /><Relationship Type="http://schemas.openxmlformats.org/officeDocument/2006/relationships/slide" Target="/ppt/slides/slide1.xml" Id="Rcf9f32f5bfe940d9" /><Relationship Type="http://schemas.openxmlformats.org/officeDocument/2006/relationships/slide" Target="/ppt/slides/slide2.xml" Id="R210ae5f0aaff43ea" /><Relationship Type="http://schemas.openxmlformats.org/officeDocument/2006/relationships/slide" Target="/ppt/slides/slide3.xml" Id="R72980a0bb84f4475" /><Relationship Type="http://schemas.openxmlformats.org/officeDocument/2006/relationships/slide" Target="/ppt/slides/slide4.xml" Id="R0d8a643ac4c24e7b" /><Relationship Type="http://schemas.openxmlformats.org/officeDocument/2006/relationships/slide" Target="/ppt/slides/slide5.xml" Id="R78cd29de57ce4044" /><Relationship Type="http://schemas.openxmlformats.org/officeDocument/2006/relationships/slide" Target="/ppt/slides/slide6.xml" Id="Re37a90d3e89a4bf1" /><Relationship Type="http://schemas.openxmlformats.org/officeDocument/2006/relationships/slide" Target="/ppt/slides/slide7.xml" Id="R0a19dcb5c4e64a46" /><Relationship Type="http://schemas.openxmlformats.org/officeDocument/2006/relationships/slide" Target="/ppt/slides/slide8.xml" Id="Rb51aab30981d47f3" />  <Relationship Id="rId1" Type="http://schemas.openxmlformats.org/officeDocument/2006/relationships/slide" Target="slides/slide9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bdeb181f0c4d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209f745aef485a" /><Relationship Type="http://schemas.openxmlformats.org/officeDocument/2006/relationships/notesMaster" Target="/ppt/notesMasters/notesMaster1.xml" Id="R1c729f051bf944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5005a8e7e042bb" /><Relationship Type="http://schemas.openxmlformats.org/officeDocument/2006/relationships/notesMaster" Target="/ppt/notesMasters/notesMaster1.xml" Id="R076d3b5a2d0140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66818e80a648ed" /><Relationship Type="http://schemas.openxmlformats.org/officeDocument/2006/relationships/notesMaster" Target="/ppt/notesMasters/notesMaster1.xml" Id="R588de771c79f49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babbb544814c30" /><Relationship Type="http://schemas.openxmlformats.org/officeDocument/2006/relationships/notesMaster" Target="/ppt/notesMasters/notesMaster1.xml" Id="Ra3e56e4dcc4044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9b6ebb4ec84aad" /><Relationship Type="http://schemas.openxmlformats.org/officeDocument/2006/relationships/notesMaster" Target="/ppt/notesMasters/notesMaster1.xml" Id="Rdf1e8f444d7d4d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6056f4d81e415f" /><Relationship Type="http://schemas.openxmlformats.org/officeDocument/2006/relationships/notesMaster" Target="/ppt/notesMasters/notesMaster1.xml" Id="R9e3870ac468a41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c1d1eb99b04312" /><Relationship Type="http://schemas.openxmlformats.org/officeDocument/2006/relationships/notesMaster" Target="/ppt/notesMasters/notesMaster1.xml" Id="R8f572baa8a8f46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b040e79b8540e7" /><Relationship Type="http://schemas.openxmlformats.org/officeDocument/2006/relationships/notesMaster" Target="/ppt/notesMasters/notesMaster1.xml" Id="R1f2f9c9d060f45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46218be7a04c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4705037c8a44ef" /><Relationship Type="http://schemas.openxmlformats.org/officeDocument/2006/relationships/slideLayout" Target="/ppt/slideLayouts/slideLayout1.xml" Id="R5dcb0f7ce44a4f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cb0f7ce44a4f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fa57fedf043b3" /><Relationship Type="http://schemas.openxmlformats.org/officeDocument/2006/relationships/image" Target="/ppt/media/image.png" Id="Rcdfea45334f84ea5" /><Relationship Type="http://schemas.openxmlformats.org/officeDocument/2006/relationships/image" Target="/ppt/media/image2.png" Id="R675a268b3cd44231" /><Relationship Type="http://schemas.openxmlformats.org/officeDocument/2006/relationships/image" Target="/ppt/media/image3.png" Id="R6df4971958b54d2e" /><Relationship Type="http://schemas.openxmlformats.org/officeDocument/2006/relationships/notesSlide" Target="/ppt/notesSlides/notesSlide1.xml" Id="R7a1dcc0f7acd46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e446535504a90" /><Relationship Type="http://schemas.openxmlformats.org/officeDocument/2006/relationships/image" Target="/ppt/media/image4.png" Id="R892c96610caa4945" /><Relationship Type="http://schemas.openxmlformats.org/officeDocument/2006/relationships/image" Target="/ppt/media/image5.png" Id="Rab010e95464b4b73" /><Relationship Type="http://schemas.openxmlformats.org/officeDocument/2006/relationships/notesSlide" Target="/ppt/notesSlides/notesSlide2.xml" Id="R699e873fd46d4d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9744b5c8e4403" /><Relationship Type="http://schemas.openxmlformats.org/officeDocument/2006/relationships/image" Target="/ppt/media/image6.png" Id="Ra114d251b4194a37" /><Relationship Type="http://schemas.openxmlformats.org/officeDocument/2006/relationships/image" Target="/ppt/media/image7.png" Id="R3323cb76ffb14c8d" /><Relationship Type="http://schemas.openxmlformats.org/officeDocument/2006/relationships/notesSlide" Target="/ppt/notesSlides/notesSlide3.xml" Id="Rc1029f283ba447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6665f903e49b3" /><Relationship Type="http://schemas.openxmlformats.org/officeDocument/2006/relationships/image" Target="/ppt/media/image8.png" Id="Recfcb090f7b84dff" /><Relationship Type="http://schemas.openxmlformats.org/officeDocument/2006/relationships/image" Target="/ppt/media/image9.png" Id="R6d260c7dd61f4ae8" /><Relationship Type="http://schemas.openxmlformats.org/officeDocument/2006/relationships/notesSlide" Target="/ppt/notesSlides/notesSlide4.xml" Id="Ra701ad02407f4f75" /><Relationship Id="rIdMscan4" Type="http://schemas.openxmlformats.org/officeDocument/2006/relationships/hyperlink" Target="https://mantlescan.xyz/address/0x8633518fbbf23E78586F1456530c3452885efb21" TargetMode="External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d6d4f24724690" /><Relationship Type="http://schemas.openxmlformats.org/officeDocument/2006/relationships/image" Target="/ppt/media/image10.png" Id="R723075fb5988445b" /><Relationship Type="http://schemas.openxmlformats.org/officeDocument/2006/relationships/image" Target="/ppt/media/image11.png" Id="R4b8301adf253448c" /><Relationship Type="http://schemas.openxmlformats.org/officeDocument/2006/relationships/notesSlide" Target="/ppt/notesSlides/notesSlide5.xml" Id="R377d477e3e3f4908" /><Relationship Id="rL_repo" Type="http://schemas.openxmlformats.org/officeDocument/2006/relationships/hyperlink" Target="https://github.com/mateodaza/galeon" TargetMode="External" /><Relationship Id="rL_mscan" Type="http://schemas.openxmlformats.org/officeDocument/2006/relationships/hyperlink" Target="https://mantlescan.xyz" TargetMode="External" /><Relationship Id="rL_stealth" Type="http://schemas.openxmlformats.org/officeDocument/2006/relationships/hyperlink" Target="https://github.com/mateodaza/galeon/tree/main/packages/stealth" TargetMode="External" /><Relationship Id="rL_pool" Type="http://schemas.openxmlformats.org/officeDocument/2006/relationships/hyperlink" Target="https://github.com/mateodaza/galeon/tree/main/packages/pool" TargetMode="External" /><Relationship Id="rL_contracts" Type="http://schemas.openxmlformats.org/officeDocument/2006/relationships/hyperlink" Target="https://github.com/mateodaza/galeon/tree/main/packages/contracts" TargetMode="External" /><Relationship Id="rL_apps" Type="http://schemas.openxmlformats.org/officeDocument/2006/relationships/hyperlink" Target="https://github.com/mateodaza/galeon/tree/main/apps" TargetMode="External" /><Relationship Id="rL_entry" Type="http://schemas.openxmlformats.org/officeDocument/2006/relationships/hyperlink" Target="https://mantlescan.xyz/address/0x8633518fbbf23E78586F1456530c3452885efb21" TargetMode="External" /><Relationship Id="rL_poola" Type="http://schemas.openxmlformats.org/officeDocument/2006/relationships/hyperlink" Target="https://mantlescan.xyz/address/0xE271335D1FCa02b6c219B9944f0a4921aFD559C0" TargetMode="External" /><Relationship Id="rL_reg" Type="http://schemas.openxmlformats.org/officeDocument/2006/relationships/hyperlink" Target="https://mantlescan.xyz/address/0x9bcDb96a9Ff9b492e07f9E4909DF143266271e9D" TargetMode="External" /><Relationship Id="rL_ann" Type="http://schemas.openxmlformats.org/officeDocument/2006/relationships/hyperlink" Target="https://mantlescan.xyz/address/0x8C04238c49e22EB687ad706bEe645698ccF41153" TargetMode="External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Relationship Type="http://schemas.openxmlformats.org/officeDocument/2006/relationships/notesSlide" Target="/ppt/notesSlides/notesSlide6.xml" Id="R469af92a126042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4bc029c14431d" /><Relationship Type="http://schemas.openxmlformats.org/officeDocument/2006/relationships/image" Target="/ppt/media/image14.png" Id="Recf95f9438b744cc" /><Relationship Type="http://schemas.openxmlformats.org/officeDocument/2006/relationships/image" Target="/ppt/media/image15.png" Id="R9ffb3e37758a4a3e" /><Relationship Type="http://schemas.openxmlformats.org/officeDocument/2006/relationships/notesSlide" Target="/ppt/notesSlides/notesSlide7.xml" Id="R0320a98b3d2549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eb74ec0d34eca" /><Relationship Type="http://schemas.openxmlformats.org/officeDocument/2006/relationships/image" Target="/ppt/media/image16.png" Id="R3d4e2fac494a4eb7" /><Relationship Type="http://schemas.openxmlformats.org/officeDocument/2006/relationships/image" Target="/ppt/media/image17.png" Id="R97aaa87c20104c78" /><Relationship Type="http://schemas.openxmlformats.org/officeDocument/2006/relationships/notesSlide" Target="/ppt/notesSlides/notesSlide8.xml" Id="R2ece13a687d041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ea45334f84ea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540AC-31F0-4BCE-9BA2-276D8D04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2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76A99E-24F8-4413-916C-86E3FB3B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a268b3cd44231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B5915-58ED-4E3F-B353-4CE15EFC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9FD9C3-E269-476A-8467-3F32CA63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5B540-AE05-4041-9B6B-8BBB6BBA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1 / 9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4971958b54d2e"/>
          <a:stretch xmlns:a="http://schemas.openxmlformats.org/drawingml/2006/main"/>
        </p:blipFill>
        <p:spPr>
          <a:xfrm xmlns:a="http://schemas.openxmlformats.org/drawingml/2006/main">
            <a:off x="5467350" y="1181100"/>
            <a:ext cx="1257300" cy="12573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298DD-AD9D-4CBD-A4F6-86C9AABE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24125"/>
            <a:ext cx="685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E5888-72CD-487C-B021-BE8E45C2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71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325" b="0">
                <a:solidFill>
                  <a:srgbClr val="D5E6EC"/>
                </a:solidFill>
              </a:defRPr>
            </a:pPr>
            <a:r>
              <a:rPr sz="2325" b="0">
                <a:solidFill>
                  <a:srgbClr val="D5E6EC"/>
                </a:solidFill>
              </a:rPr>
              <a:t>Private payments for public blockchains.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34A50B-16C5-43B3-B366-9A844F36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71950"/>
            <a:ext cx="6172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20B18">
              <a:alpha val="56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DCBFC3-8111-46A1-A6E7-3690FF41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52925"/>
            <a:ext cx="5562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Public accountability without public beneficiary histories.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99D8C6-27F9-47D1-B59E-49BA7B80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33400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EEBF2"/>
                </a:solidFill>
              </a:defRPr>
            </a:pPr>
            <a:r>
              <a:rPr sz="1050" b="0">
                <a:solidFill>
                  <a:srgbClr val="9EEBF2"/>
                </a:solidFill>
              </a:rPr>
              <a:t>Open source  ·  Live on Mantle  ·  Built by Mateo Daza and Carlos Quintero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100511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2c96610caa494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5113B-25A7-4A91-982A-005B290B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5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845DD-58AA-431C-9286-BA7280D5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10e95464b4b73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27D48-CC95-4265-8222-C348D624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94F6C-902A-461E-8D04-66677921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F28EF-D55A-4313-8D43-342A69FC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2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344359-A1BE-4954-95B8-44D69DAA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95350"/>
            <a:ext cx="10591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Two founders built Galeon. Five people own the funded work.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7BA2FC-17C1-4D82-9205-168957C9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10591800" cy="388620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020B18">
              <a:alpha val="72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E85EDE-9894-40AF-A9BE-089EC42C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BUILT BY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77FD63-8067-449A-B1EB-01AB7C5A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193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Mateo Daza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522B32-CAF6-4C25-AD65-79E2B31D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384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1AAB5"/>
                </a:solidFill>
              </a:defRPr>
            </a:pPr>
            <a:r>
              <a:rPr sz="1275" b="0">
                <a:solidFill>
                  <a:srgbClr val="91AAB5"/>
                </a:solidFill>
              </a:rPr>
              <a:t>Product + frontend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40E150-327F-49B2-A7F3-99A31554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Carlos Quintero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A8323E-AAD2-443A-AF21-6A77C500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1AAB5"/>
                </a:solidFill>
              </a:defRPr>
            </a:pPr>
            <a:r>
              <a:rPr sz="1275" b="0">
                <a:solidFill>
                  <a:srgbClr val="91AAB5"/>
                </a:solidFill>
              </a:rPr>
              <a:t>Backend + protocol · Lead developer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74E3E7-674D-4DB1-9A89-2EEAAFDE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76450"/>
            <a:ext cx="95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AB135B-0A0A-4F7C-A7D5-5458CE38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57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FUNDED DELIVERY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1131DC-2501-416F-9CC2-AB290282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193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Fabio Anaya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D6C7F7-FDEC-4D93-8207-E5AACC97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7622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1AAB5"/>
                </a:solidFill>
              </a:defRPr>
            </a:pPr>
            <a:r>
              <a:rPr sz="1200" b="0">
                <a:solidFill>
                  <a:srgbClr val="91AAB5"/>
                </a:solidFill>
              </a:rPr>
              <a:t>Growth + partnerships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CCB984-0321-4EFA-82B5-3F9E1EFE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2575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Juan David Correa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3737B5-7C24-450F-B66B-B2345392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004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1AAB5"/>
                </a:solidFill>
              </a:defRPr>
            </a:pPr>
            <a:r>
              <a:rPr sz="1200" b="0">
                <a:solidFill>
                  <a:srgbClr val="91AAB5"/>
                </a:solidFill>
              </a:rPr>
              <a:t>Operations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231B0C-AE6B-4364-81C8-5094D4F0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957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Juan José Sanfeliú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275992-365B-47D2-B345-5288EF56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4386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1AAB5"/>
                </a:solidFill>
              </a:defRPr>
            </a:pPr>
            <a:r>
              <a:rPr sz="1200" b="0">
                <a:solidFill>
                  <a:srgbClr val="91AAB5"/>
                </a:solidFill>
              </a:rPr>
              <a:t>Marketing + community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FD28D3-DF26-46EB-B35E-A1AB3E17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52950"/>
            <a:ext cx="4095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2B8173-944A-4F2C-9499-F8551A09B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5E6EC"/>
                </a:solidFill>
              </a:defRPr>
            </a:pPr>
            <a:r>
              <a:rPr sz="1200" b="0">
                <a:solidFill>
                  <a:srgbClr val="D5E6EC"/>
                </a:solidFill>
              </a:rPr>
              <a:t>Cartagena On Chain is the applicant and proposed funded-period operator.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7883712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14d251b4194a3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43501-15E3-4431-9902-6F347135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1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B5951-2E78-4B89-80C5-B3CD13B0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3cb76ffb14c8d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5D872-FFEE-4DBB-9BA3-2F29131E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BF411-1CC1-4DEE-9A4D-B6042DBE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5AC73-17B3-45FC-A13F-FD5B7319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3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C25976-4ECB-49E3-B7AB-2D7D92B6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95350"/>
            <a:ext cx="10591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Privacy is not one switch.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372F6C-BE0B-4585-B4DD-4362B2E7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5E6EC"/>
                </a:solidFill>
              </a:defRPr>
            </a:pPr>
            <a:r>
              <a:rPr sz="1500" b="0">
                <a:solidFill>
                  <a:srgbClr val="D5E6EC"/>
                </a:solidFill>
              </a:rPr>
              <a:t>Galeon separates receiver privacy, transaction privacy, and policy.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57A09-FC6A-4043-812D-E6925D43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105918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0DBF07-514F-4B5E-B31E-723E2DBD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E2F2"/>
                </a:solidFill>
              </a:defRPr>
            </a:pPr>
            <a:r>
              <a:rPr sz="1350" b="1">
                <a:solidFill>
                  <a:srgbClr val="38E2F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F38CAD-2737-47F4-B1F3-90C3D97F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813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Ports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FFCD91-50C9-4820-BD3C-F7AAFFFC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A fresh stealth address for every payment.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D6F436-5E7C-41AB-929C-5DF2A391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05300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E6B5"/>
                </a:solidFill>
              </a:defRPr>
            </a:pPr>
            <a:r>
              <a:rPr sz="825" b="1">
                <a:solidFill>
                  <a:srgbClr val="75E6B5"/>
                </a:solidFill>
              </a:rPr>
              <a:t>LIVE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4DEE1B-FF1A-4545-B670-B1C31085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43150"/>
            <a:ext cx="95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9B3D62-95B8-4567-B6F8-083CBD55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24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E2F2"/>
                </a:solidFill>
              </a:defRPr>
            </a:pPr>
            <a:r>
              <a:rPr sz="1350" b="1">
                <a:solidFill>
                  <a:srgbClr val="38E2F2"/>
                </a:solidFill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356AB2-9920-4A75-A926-A154589F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13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Privacy Pool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F07721-636A-4616-BB11-659106E6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718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A ZK proof breaks the public deposit-to-withdrawal link.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FC4D5A-61CA-4982-B159-A75D23CC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05300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E6B5"/>
                </a:solidFill>
              </a:defRPr>
            </a:pPr>
            <a:r>
              <a:rPr sz="825" b="1">
                <a:solidFill>
                  <a:srgbClr val="75E6B5"/>
                </a:solidFill>
              </a:rPr>
              <a:t>LIVE · NATIVE MNT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6801D1-7B5B-47FB-9641-B73C460B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43150"/>
            <a:ext cx="95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E4DA13-673B-4C01-B98D-8B5FA6CC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24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E2F2"/>
                </a:solidFill>
              </a:defRPr>
            </a:pPr>
            <a:r>
              <a:rPr sz="1350" b="1">
                <a:solidFill>
                  <a:srgbClr val="38E2F2"/>
                </a:solidFill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340361-54C4-4583-8C4A-090F2F2F9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ASP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EC6F14-9E36-49C9-8EB6-23CFFB3A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718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A policy gate decides which deposits may withdraw privately.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F3D611-67BC-4B31-B83E-AAD614B5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05300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6C36B"/>
                </a:solidFill>
              </a:defRPr>
            </a:pPr>
            <a:r>
              <a:rPr sz="825" b="1">
                <a:solidFill>
                  <a:srgbClr val="F6C36B"/>
                </a:solidFill>
              </a:rPr>
              <a:t>AUTO-APPROVES TODAY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04CA32-18BE-4FF1-B4A7-D913E7F5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102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WHAT UNICEF ADDS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A62924-3DDB-4330-8FFB-CD37270D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76900"/>
            <a:ext cx="1059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Safeguarding gates, realistic usage patterns, and a tested incident response.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04465717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cb090f7b84df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6A5EC-6DED-4587-9499-4E86F335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3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92A32A-E9C0-43F1-B316-76C8D35F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260c7dd61f4ae8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D3D127-AEC1-48FC-BD71-57FF6F86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53C45-9A24-4F57-8FF2-6A03F2D1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621240-8FEB-43F5-828F-44BE71B0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4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B417B4-6C7A-4D59-903A-E92B14B4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668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LIVE PRODUCT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9645C7-681E-4A3B-9134-9E41CCCB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4780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One private withdrawal, verified live.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6A7138-4DC2-4AFE-8137-C58BAC9C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75247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20B18">
              <a:alpha val="6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014863-6759-433F-B37B-426D0736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676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1AAB5"/>
                </a:solidFill>
              </a:defRPr>
            </a:pPr>
            <a:r>
              <a:rPr sz="1575" b="0">
                <a:solidFill>
                  <a:srgbClr val="91AAB5"/>
                </a:solidFill>
              </a:rPr>
              <a:t>Pre-staged deposit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F8300D-0511-43D7-80AC-52FE8B47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24250"/>
            <a:ext cx="676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Client-generated ZK proof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AC9374-0C77-4143-8191-AE100652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676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EEBF2"/>
                </a:solidFill>
              </a:defRPr>
            </a:pPr>
            <a:r>
              <a:rPr sz="1950" b="1">
                <a:solidFill>
                  <a:srgbClr val="9EEBF2"/>
                </a:solidFill>
              </a:rPr>
              <a:t>Mantlescan shows the relayer, not the depositor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DB3EA7-AF7B-46A8-B660-C8AECE14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923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5E6EC"/>
                </a:solidFill>
              </a:defRPr>
            </a:pPr>
            <a:r>
              <a:rPr sz="1500" b="0">
                <a:solidFill>
                  <a:srgbClr val="D5E6EC"/>
                </a:solidFill>
              </a:rPr>
              <a:t>The recipient and amount remain public. We demonstrate unlinkability, not invisibility.</a:t>
            </a:r>
          </a:p>
        </p:txBody>
      </p:sp>
      <p:sp xmlns:a="http://schemas.openxmlformats.org/drawingml/2006/main" xmlns:r="http://schemas.openxmlformats.org/officeDocument/2006/relationships">
        <p:nvSpPr>
          <p:cNvPr id="211" name="verify-panel"/>
          <p:cNvSpPr>
            <a:spLocks noGrp="1"/>
          </p:cNvSpPr>
          <p:nvPr/>
        </p:nvSpPr>
        <p:spPr>
          <a:xfrm>
            <a:off x="8732520" y="2697480"/>
            <a:ext cx="2697480" cy="19202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VERIFY IT YOURSELF</a:t>
            </a:r>
          </a:p>
          <a:p>
            <a:pPr algn="l">
              <a:spcBef>
                <a:spcPts val="900"/>
              </a:spcBef>
            </a:pPr>
            <a:r>
              <a:rPr sz="800" b="1">
                <a:solidFill>
                  <a:srgbClr val="91AAB5"/>
                </a:solidFill>
              </a:rPr>
              <a:t xml:space="preserve">Deployed pool · Mantle mainnet</a:t>
            </a:r>
          </a:p>
          <a:p>
            <a:pPr algn="l">
              <a:spcBef>
                <a:spcPts val="200"/>
              </a:spcBef>
            </a:pPr>
            <a:r>
              <a:rPr sz="1150" b="1">
                <a:solidFill>
                  <a:srgbClr val="9EEBF2"/>
                </a:solidFill>
                <a:hlinkClick r:id="rIdMscan4"/>
              </a:rPr>
              <a:t xml:space="preserve">Entrypoint 0x8633…fb21  ↗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7144681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075fb5988445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C4DE4-841E-4171-B0AD-E410BEA3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A9A0B-B353-4CE2-9A13-12B30C90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301adf253448c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0F38A-1430-4DAA-A817-D90444BE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47D97-23A5-4850-83E9-25BE7790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86EB4-C3BB-4108-A990-C5817502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6 / 9</a:t>
            </a:r>
          </a:p>
        </p:txBody>
      </p:sp>
      <p:sp xmlns:a="http://schemas.openxmlformats.org/drawingml/2006/main" xmlns:r="http://schemas.openxmlformats.org/officeDocument/2006/relationships">
        <p:nvSpPr>
          <p:cNvPr id="500" name="title"/>
          <p:cNvSpPr>
            <a:spLocks noGrp="1"/>
          </p:cNvSpPr>
          <p:nvPr/>
        </p:nvSpPr>
        <p:spPr>
          <a:xfrm>
            <a:off x="800100" y="749808"/>
            <a:ext cx="10588752" cy="5486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The live product and public repository match.</a:t>
            </a:r>
          </a:p>
        </p:txBody>
      </p:sp>
      <p:sp xmlns:a="http://schemas.openxmlformats.org/drawingml/2006/main">
        <p:nvSpPr>
          <p:cNvPr id="501" name="card"/>
          <p:cNvSpPr>
            <a:spLocks noGrp="1"/>
          </p:cNvSpPr>
          <p:nvPr/>
        </p:nvSpPr>
        <p:spPr>
          <a:xfrm>
            <a:off x="800100" y="1536192"/>
            <a:ext cx="10588752" cy="3822192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510" name="stat"/>
          <p:cNvSpPr>
            <a:spLocks noGrp="1"/>
          </p:cNvSpPr>
          <p:nvPr/>
        </p:nvSpPr>
        <p:spPr>
          <a:xfrm>
            <a:off x="1234440" y="1755648"/>
            <a:ext cx="3017520" cy="56692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600" b="1">
                <a:solidFill>
                  <a:srgbClr val="38E2F2"/>
                </a:solidFill>
              </a:rPr>
              <a:t xml:space="preserve">537</a:t>
            </a:r>
          </a:p>
        </p:txBody>
      </p:sp>
      <p:sp xmlns:a="http://schemas.openxmlformats.org/drawingml/2006/main" xmlns:r="http://schemas.openxmlformats.org/officeDocument/2006/relationships">
        <p:nvSpPr>
          <p:cNvPr id="511" name="statlbl"/>
          <p:cNvSpPr>
            <a:spLocks noGrp="1"/>
          </p:cNvSpPr>
          <p:nvPr/>
        </p:nvSpPr>
        <p:spPr>
          <a:xfrm>
            <a:off x="1234440" y="2395728"/>
            <a:ext cx="301752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automated tests</a:t>
            </a:r>
          </a:p>
        </p:txBody>
      </p:sp>
      <p:sp xmlns:a="http://schemas.openxmlformats.org/drawingml/2006/main" xmlns:r="http://schemas.openxmlformats.org/officeDocument/2006/relationships">
        <p:nvSpPr>
          <p:cNvPr id="512" name="stat"/>
          <p:cNvSpPr>
            <a:spLocks noGrp="1"/>
          </p:cNvSpPr>
          <p:nvPr/>
        </p:nvSpPr>
        <p:spPr>
          <a:xfrm>
            <a:off x="4572000" y="1755648"/>
            <a:ext cx="3017520" cy="56692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600" b="1">
                <a:solidFill>
                  <a:srgbClr val="9EEBF2"/>
                </a:solidFill>
              </a:rPr>
              <a:t xml:space="preserve">3</a:t>
            </a:r>
          </a:p>
        </p:txBody>
      </p:sp>
      <p:sp xmlns:a="http://schemas.openxmlformats.org/drawingml/2006/main" xmlns:r="http://schemas.openxmlformats.org/officeDocument/2006/relationships">
        <p:nvSpPr>
          <p:cNvPr id="513" name="statlbl"/>
          <p:cNvSpPr>
            <a:spLocks noGrp="1"/>
          </p:cNvSpPr>
          <p:nvPr/>
        </p:nvSpPr>
        <p:spPr>
          <a:xfrm>
            <a:off x="4572000" y="2395728"/>
            <a:ext cx="301752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upstream Oxorio audits</a:t>
            </a:r>
          </a:p>
        </p:txBody>
      </p:sp>
      <p:sp xmlns:a="http://schemas.openxmlformats.org/drawingml/2006/main" xmlns:r="http://schemas.openxmlformats.org/officeDocument/2006/relationships">
        <p:nvSpPr>
          <p:cNvPr id="514" name="stat"/>
          <p:cNvSpPr>
            <a:spLocks noGrp="1"/>
          </p:cNvSpPr>
          <p:nvPr/>
        </p:nvSpPr>
        <p:spPr>
          <a:xfrm>
            <a:off x="7909560" y="1755648"/>
            <a:ext cx="3017520" cy="56692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600" b="1">
                <a:solidFill>
                  <a:srgbClr val="75E6B5"/>
                </a:solidFill>
              </a:rPr>
              <a:t xml:space="preserve">LIVE</a:t>
            </a:r>
          </a:p>
        </p:txBody>
      </p:sp>
      <p:sp xmlns:a="http://schemas.openxmlformats.org/drawingml/2006/main" xmlns:r="http://schemas.openxmlformats.org/officeDocument/2006/relationships">
        <p:nvSpPr>
          <p:cNvPr id="515" name="statlbl"/>
          <p:cNvSpPr>
            <a:spLocks noGrp="1"/>
          </p:cNvSpPr>
          <p:nvPr/>
        </p:nvSpPr>
        <p:spPr>
          <a:xfrm>
            <a:off x="7909560" y="2395728"/>
            <a:ext cx="301752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native MNT on Mantle</a:t>
            </a:r>
          </a:p>
        </p:txBody>
      </p:sp>
      <p:sp xmlns:a="http://schemas.openxmlformats.org/drawingml/2006/main">
        <p:nvSpPr>
          <p:cNvPr id="520" name="rule"/>
          <p:cNvSpPr>
            <a:spLocks noGrp="1"/>
          </p:cNvSpPr>
          <p:nvPr/>
        </p:nvSpPr>
        <p:spPr>
          <a:xfrm>
            <a:off x="1234440" y="2889504"/>
            <a:ext cx="8915400" cy="951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521" name="lh"/>
          <p:cNvSpPr>
            <a:spLocks noGrp="1"/>
          </p:cNvSpPr>
          <p:nvPr/>
        </p:nvSpPr>
        <p:spPr>
          <a:xfrm>
            <a:off x="1234440" y="3054096"/>
            <a:ext cx="4572000" cy="25603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IN THE REPOSITORY</a:t>
            </a:r>
          </a:p>
        </p:txBody>
      </p:sp>
      <p:sp xmlns:a="http://schemas.openxmlformats.org/drawingml/2006/main" xmlns:r="http://schemas.openxmlformats.org/officeDocument/2006/relationships">
        <p:nvSpPr>
          <p:cNvPr id="522" name="lrepo"/>
          <p:cNvSpPr>
            <a:spLocks noGrp="1"/>
          </p:cNvSpPr>
          <p:nvPr/>
        </p:nvSpPr>
        <p:spPr>
          <a:xfrm>
            <a:off x="1234440" y="3319272"/>
            <a:ext cx="4572000" cy="25603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9EEBF2"/>
                </a:solidFill>
                <a:hlinkClick r:id="rL_repo"/>
              </a:rPr>
              <a:t xml:space="preserve">github.com/mateodaza/galeon  ↗</a:t>
            </a:r>
          </a:p>
        </p:txBody>
      </p:sp>
      <p:sp xmlns:a="http://schemas.openxmlformats.org/drawingml/2006/main" xmlns:r="http://schemas.openxmlformats.org/officeDocument/2006/relationships">
        <p:nvSpPr>
          <p:cNvPr id="523" name="rh"/>
          <p:cNvSpPr>
            <a:spLocks noGrp="1"/>
          </p:cNvSpPr>
          <p:nvPr/>
        </p:nvSpPr>
        <p:spPr>
          <a:xfrm>
            <a:off x="6263640" y="3054096"/>
            <a:ext cx="4572000" cy="25603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ON MANTLE MAINNET</a:t>
            </a:r>
          </a:p>
        </p:txBody>
      </p:sp>
      <p:sp xmlns:a="http://schemas.openxmlformats.org/drawingml/2006/main" xmlns:r="http://schemas.openxmlformats.org/officeDocument/2006/relationships">
        <p:nvSpPr>
          <p:cNvPr id="524" name="rmscan"/>
          <p:cNvSpPr>
            <a:spLocks noGrp="1"/>
          </p:cNvSpPr>
          <p:nvPr/>
        </p:nvSpPr>
        <p:spPr>
          <a:xfrm>
            <a:off x="6263640" y="3319272"/>
            <a:ext cx="4572000" cy="25603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9EEBF2"/>
                </a:solidFill>
                <a:hlinkClick r:id="rL_mscan"/>
              </a:rPr>
              <a:t xml:space="preserve">mantlescan.xyz  ↗</a:t>
            </a:r>
          </a:p>
        </p:txBody>
      </p:sp>
      <p:sp xmlns:a="http://schemas.openxmlformats.org/drawingml/2006/main">
        <p:nvSpPr>
          <p:cNvPr id="525" name="rule"/>
          <p:cNvSpPr>
            <a:spLocks noGrp="1"/>
          </p:cNvSpPr>
          <p:nvPr/>
        </p:nvSpPr>
        <p:spPr>
          <a:xfrm>
            <a:off x="5943600" y="3054096"/>
            <a:ext cx="9510" cy="196596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530" name="row"/>
          <p:cNvSpPr>
            <a:spLocks noGrp="1"/>
          </p:cNvSpPr>
          <p:nvPr/>
        </p:nvSpPr>
        <p:spPr>
          <a:xfrm>
            <a:off x="1234440" y="3675888"/>
            <a:ext cx="4709160" cy="38404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1">
                <a:solidFill>
                  <a:srgbClr val="FFFFFF"/>
                </a:solidFill>
              </a:rPr>
              <a:t xml:space="preserve">Stealth library  </a:t>
            </a:r>
            <a:r>
              <a:rPr sz="1100" b="1">
                <a:solidFill>
                  <a:srgbClr val="38E2F2"/>
                </a:solidFill>
                <a:hlinkClick r:id="rL_stealth"/>
              </a:rPr>
              <a:t xml:space="preserve">/packages/stealth</a:t>
            </a:r>
            <a:r>
              <a:rPr sz="1000" b="0">
                <a:solidFill>
                  <a:srgbClr val="91AAB5"/>
                </a:solidFill>
              </a:rPr>
              <a:t xml:space="preserve">   EIP-5564 receive</a:t>
            </a:r>
          </a:p>
        </p:txBody>
      </p:sp>
      <p:sp xmlns:a="http://schemas.openxmlformats.org/drawingml/2006/main" xmlns:r="http://schemas.openxmlformats.org/officeDocument/2006/relationships">
        <p:nvSpPr>
          <p:cNvPr id="531" name="row"/>
          <p:cNvSpPr>
            <a:spLocks noGrp="1"/>
          </p:cNvSpPr>
          <p:nvPr/>
        </p:nvSpPr>
        <p:spPr>
          <a:xfrm>
            <a:off x="1234440" y="4059936"/>
            <a:ext cx="4709160" cy="38404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1">
                <a:solidFill>
                  <a:srgbClr val="FFFFFF"/>
                </a:solidFill>
              </a:rPr>
              <a:t xml:space="preserve">Privacy Pool SDK  </a:t>
            </a:r>
            <a:r>
              <a:rPr sz="1100" b="1">
                <a:solidFill>
                  <a:srgbClr val="38E2F2"/>
                </a:solidFill>
                <a:hlinkClick r:id="rL_pool"/>
              </a:rPr>
              <a:t xml:space="preserve">/packages/pool</a:t>
            </a:r>
            <a:r>
              <a:rPr sz="1000" b="0">
                <a:solidFill>
                  <a:srgbClr val="91AAB5"/>
                </a:solidFill>
              </a:rPr>
              <a:t xml:space="preserve">   ZK proofs, merkle</a:t>
            </a:r>
          </a:p>
        </p:txBody>
      </p:sp>
      <p:sp xmlns:a="http://schemas.openxmlformats.org/drawingml/2006/main" xmlns:r="http://schemas.openxmlformats.org/officeDocument/2006/relationships">
        <p:nvSpPr>
          <p:cNvPr id="532" name="row"/>
          <p:cNvSpPr>
            <a:spLocks noGrp="1"/>
          </p:cNvSpPr>
          <p:nvPr/>
        </p:nvSpPr>
        <p:spPr>
          <a:xfrm>
            <a:off x="1234440" y="4443984"/>
            <a:ext cx="4709160" cy="38404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1">
                <a:solidFill>
                  <a:srgbClr val="FFFFFF"/>
                </a:solidFill>
              </a:rPr>
              <a:t xml:space="preserve">Smart contracts  </a:t>
            </a:r>
            <a:r>
              <a:rPr sz="1100" b="1">
                <a:solidFill>
                  <a:srgbClr val="38E2F2"/>
                </a:solidFill>
                <a:hlinkClick r:id="rL_contracts"/>
              </a:rPr>
              <a:t xml:space="preserve">/packages/contracts</a:t>
            </a:r>
            <a:r>
              <a:rPr sz="1000" b="0">
                <a:solidFill>
                  <a:srgbClr val="91AAB5"/>
                </a:solidFill>
              </a:rPr>
              <a:t xml:space="preserve">   pool, verifiers</a:t>
            </a:r>
          </a:p>
        </p:txBody>
      </p:sp>
      <p:sp xmlns:a="http://schemas.openxmlformats.org/drawingml/2006/main" xmlns:r="http://schemas.openxmlformats.org/officeDocument/2006/relationships">
        <p:nvSpPr>
          <p:cNvPr id="533" name="row"/>
          <p:cNvSpPr>
            <a:spLocks noGrp="1"/>
          </p:cNvSpPr>
          <p:nvPr/>
        </p:nvSpPr>
        <p:spPr>
          <a:xfrm>
            <a:off x="1234440" y="4828032"/>
            <a:ext cx="4709160" cy="38404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1">
                <a:solidFill>
                  <a:srgbClr val="FFFFFF"/>
                </a:solidFill>
              </a:rPr>
              <a:t xml:space="preserve">Web · API · Indexer  </a:t>
            </a:r>
            <a:r>
              <a:rPr sz="1100" b="1">
                <a:solidFill>
                  <a:srgbClr val="38E2F2"/>
                </a:solidFill>
                <a:hlinkClick r:id="rL_apps"/>
              </a:rPr>
              <a:t xml:space="preserve">/apps</a:t>
            </a:r>
            <a:r>
              <a:rPr sz="1000" b="0">
                <a:solidFill>
                  <a:srgbClr val="91AAB5"/>
                </a:solidFill>
              </a:rPr>
              <a:t xml:space="preserve">   product + indexing</a:t>
            </a:r>
          </a:p>
        </p:txBody>
      </p:sp>
      <p:sp xmlns:a="http://schemas.openxmlformats.org/drawingml/2006/main" xmlns:r="http://schemas.openxmlformats.org/officeDocument/2006/relationships">
        <p:nvSpPr>
          <p:cNvPr id="540" name="row"/>
          <p:cNvSpPr>
            <a:spLocks noGrp="1"/>
          </p:cNvSpPr>
          <p:nvPr/>
        </p:nvSpPr>
        <p:spPr>
          <a:xfrm>
            <a:off x="6263640" y="3675888"/>
            <a:ext cx="4709160" cy="38404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1">
                <a:solidFill>
                  <a:srgbClr val="FFFFFF"/>
                </a:solidFill>
              </a:rPr>
              <a:t xml:space="preserve">GaleonEntrypoint  </a:t>
            </a:r>
            <a:r>
              <a:rPr sz="1100" b="1">
                <a:solidFill>
                  <a:srgbClr val="38E2F2"/>
                </a:solidFill>
                <a:hlinkClick r:id="rL_entry"/>
              </a:rPr>
              <a:t xml:space="preserve">0x8633…fb21</a:t>
            </a:r>
            <a:r>
              <a:rPr sz="1000" b="0">
                <a:solidFill>
                  <a:srgbClr val="91AAB5"/>
                </a:solidFill>
              </a:rPr>
              <a:t xml:space="preserve">   deposits, ASP roots</a:t>
            </a:r>
          </a:p>
        </p:txBody>
      </p:sp>
      <p:sp xmlns:a="http://schemas.openxmlformats.org/drawingml/2006/main" xmlns:r="http://schemas.openxmlformats.org/officeDocument/2006/relationships">
        <p:nvSpPr>
          <p:cNvPr id="541" name="row"/>
          <p:cNvSpPr>
            <a:spLocks noGrp="1"/>
          </p:cNvSpPr>
          <p:nvPr/>
        </p:nvSpPr>
        <p:spPr>
          <a:xfrm>
            <a:off x="6263640" y="4059936"/>
            <a:ext cx="4709160" cy="38404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1">
                <a:solidFill>
                  <a:srgbClr val="FFFFFF"/>
                </a:solidFill>
              </a:rPr>
              <a:t xml:space="preserve">Privacy Pool  </a:t>
            </a:r>
            <a:r>
              <a:rPr sz="1100" b="1">
                <a:solidFill>
                  <a:srgbClr val="38E2F2"/>
                </a:solidFill>
                <a:hlinkClick r:id="rL_poola"/>
              </a:rPr>
              <a:t xml:space="preserve">0xE271…59C0</a:t>
            </a:r>
            <a:r>
              <a:rPr sz="1000" b="0">
                <a:solidFill>
                  <a:srgbClr val="91AAB5"/>
                </a:solidFill>
              </a:rPr>
              <a:t xml:space="preserve">   the mixing pool</a:t>
            </a:r>
          </a:p>
        </p:txBody>
      </p:sp>
      <p:sp xmlns:a="http://schemas.openxmlformats.org/drawingml/2006/main" xmlns:r="http://schemas.openxmlformats.org/officeDocument/2006/relationships">
        <p:nvSpPr>
          <p:cNvPr id="542" name="row"/>
          <p:cNvSpPr>
            <a:spLocks noGrp="1"/>
          </p:cNvSpPr>
          <p:nvPr/>
        </p:nvSpPr>
        <p:spPr>
          <a:xfrm>
            <a:off x="6263640" y="4443984"/>
            <a:ext cx="4709160" cy="38404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1">
                <a:solidFill>
                  <a:srgbClr val="FFFFFF"/>
                </a:solidFill>
              </a:rPr>
              <a:t xml:space="preserve">GaleonRegistry  </a:t>
            </a:r>
            <a:r>
              <a:rPr sz="1100" b="1">
                <a:solidFill>
                  <a:srgbClr val="38E2F2"/>
                </a:solidFill>
                <a:hlinkClick r:id="rL_reg"/>
              </a:rPr>
              <a:t xml:space="preserve">0x9bcD…1e9D</a:t>
            </a:r>
            <a:r>
              <a:rPr sz="1000" b="0">
                <a:solidFill>
                  <a:srgbClr val="91AAB5"/>
                </a:solidFill>
              </a:rPr>
              <a:t xml:space="preserve">   Ports, payments</a:t>
            </a:r>
          </a:p>
        </p:txBody>
      </p:sp>
      <p:sp xmlns:a="http://schemas.openxmlformats.org/drawingml/2006/main" xmlns:r="http://schemas.openxmlformats.org/officeDocument/2006/relationships">
        <p:nvSpPr>
          <p:cNvPr id="543" name="row"/>
          <p:cNvSpPr>
            <a:spLocks noGrp="1"/>
          </p:cNvSpPr>
          <p:nvPr/>
        </p:nvSpPr>
        <p:spPr>
          <a:xfrm>
            <a:off x="6263640" y="4828032"/>
            <a:ext cx="4709160" cy="38404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1">
                <a:solidFill>
                  <a:srgbClr val="FFFFFF"/>
                </a:solidFill>
              </a:rPr>
              <a:t xml:space="preserve">Announcer  </a:t>
            </a:r>
            <a:r>
              <a:rPr sz="1100" b="1">
                <a:solidFill>
                  <a:srgbClr val="38E2F2"/>
                </a:solidFill>
                <a:hlinkClick r:id="rL_ann"/>
              </a:rPr>
              <a:t xml:space="preserve">0x8C04…1153</a:t>
            </a:r>
            <a:r>
              <a:rPr sz="1000" b="0">
                <a:solidFill>
                  <a:srgbClr val="91AAB5"/>
                </a:solidFill>
              </a:rPr>
              <a:t xml:space="preserve">   stealth announcements</a:t>
            </a:r>
          </a:p>
        </p:txBody>
      </p:sp>
      <p:sp xmlns:a="http://schemas.openxmlformats.org/drawingml/2006/main" xmlns:r="http://schemas.openxmlformats.org/officeDocument/2006/relationships">
        <p:nvSpPr>
          <p:cNvPr id="550" name="foot"/>
          <p:cNvSpPr>
            <a:spLocks noGrp="1"/>
          </p:cNvSpPr>
          <p:nvPr/>
        </p:nvSpPr>
        <p:spPr>
          <a:xfrm>
            <a:off x="800100" y="5504688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MIT apps &amp; libraries  ·  Apache-2.0 contracts &amp; pool  ·  Privacy Pool foundations derive from 0xbow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7129919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7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CA33B-966F-4E8A-95DD-D6C7BFF3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59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The product is real. The humanitarian deployment is not finished.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853DF-7979-4705-A039-7D37E7D2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1059180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20B18">
              <a:alpha val="76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0ABC60-C8D9-4F4A-B825-68DDBDEB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E6B5"/>
                </a:solidFill>
              </a:defRPr>
            </a:pPr>
            <a:r>
              <a:rPr sz="825" b="1">
                <a:solidFill>
                  <a:srgbClr val="75E6B5"/>
                </a:solidFill>
              </a:rPr>
              <a:t>WORKS NOW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42EC5-7832-4A64-8F83-39739EBC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89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Stealth-address payments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EE8998-120E-489E-B66D-AC61709E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5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Native-MNT privacy pool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D4EA54-E89B-4066-9DBE-C3F5D836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81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Relayed private withdrawal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D1DE1E-B818-4BB5-849D-4194AD47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Public code and licenses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0B2B29-01FB-476D-955A-81029AAA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47900"/>
            <a:ext cx="9525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75F17C-2C97-476B-9CC9-E4F1358F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28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6C36B"/>
                </a:solidFill>
              </a:defRPr>
            </a:pPr>
            <a:r>
              <a:rPr sz="825" b="1">
                <a:solidFill>
                  <a:srgbClr val="F6C36B"/>
                </a:solidFill>
              </a:rPr>
              <a:t>FUNDED WORK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368082-1181-43E7-80A4-E907F66A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289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Stablecoin deployment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BAF42A-637B-4C82-A628-186BBFFB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05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Real ASP process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403F77-721D-4660-8FDF-DE0C185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81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External delta-audit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C0A241-AE10-4202-8278-6776780B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057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Controlled partner pilot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3007DF-9B32-460F-9EAC-F575E573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102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PROOF BOUNDARY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D8174B-9C3D-426B-9C40-079AAAC1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1059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Galeon proves settlement and contract rules. Partners prove eligibility, receipt, cash-out, and outcomes.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95f9438b744c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47884-CFC9-4359-B03B-7FC88736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79CDA-9C5C-4117-857E-B9DD8B6A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b3e37758a4a3e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FBCF3-EA03-4DC6-81E9-2EB1028F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AB207-C277-4588-8343-CD138E1F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0B621-2BA0-4C4C-8210-F9408BFF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8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5D98BF-D410-4E03-BE99-48FABC30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591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Without an institutional anchor, the privacy model is too weak.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19EF5B-5EE1-4FDC-9C84-CDB4B4CE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105918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3FBD0-93FE-4678-99D9-88E995BD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Accountable ASP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EF55E6-9233-4B9A-AC93-95AD8B45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Rules, review, appeals, and public attestations.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F77051-ED7D-44D8-8C42-5C4BB162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81250"/>
            <a:ext cx="952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F12711-F785-453C-8621-D395A7FD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Active deposit 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7F52F7-380E-4FF7-B5F6-5127B3CD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Meaningful approved participation, not just a pool balance.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465C7D-7181-4E88-B5A7-C52722CB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81250"/>
            <a:ext cx="952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217F2C-F338-4BC1-9ADC-93EC41B8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Partner delivery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9CCA5D-DCD3-4BE7-9B17-E9748D98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Enrollment, cash-out, support, and safeguarding.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432403-66FB-42E7-8FE5-A565F916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57800"/>
            <a:ext cx="10591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UNICEF can help test all three under real safeguarding constraints.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010520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e2fac494a4e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8B8D5-EA81-490D-90C4-85A20F88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360B36-F632-4B95-8660-8EB50423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aaa87c20104c78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6BB93-B781-4B7F-9906-CB350233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9474D-C60A-4162-AE7C-58396432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2213A-CDC6-4242-A918-0ED176BA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9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A194D-D855-45FC-9D89-C35FC6EB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38200"/>
            <a:ext cx="10591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UNICEF can test whether Galeon belongs in a humanitarian cash program.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01AD93-FD63-4CDC-BD6A-03047079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10591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B0375B-670C-4F48-B9F6-81D0A9B9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E2F2"/>
                </a:solidFill>
              </a:defRPr>
            </a:pPr>
            <a:r>
              <a:rPr sz="1875" b="1">
                <a:solidFill>
                  <a:srgbClr val="38E2F2"/>
                </a:solidFill>
              </a:rPr>
              <a:t>Q1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5D3760-1F18-4089-91AC-D8DEF98C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Stablecoin + hardening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4052B-787F-4A46-A3FE-1EAD4712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75CD5B-2174-48CF-82EF-26CB4E6B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E2F2"/>
                </a:solidFill>
              </a:defRPr>
            </a:pPr>
            <a:r>
              <a:rPr sz="1875" b="1">
                <a:solidFill>
                  <a:srgbClr val="38E2F2"/>
                </a:solidFill>
              </a:rPr>
              <a:t>Q2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68BBD5-7098-4932-8284-80093555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Audit + real ASP + sandbox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190142-D89C-4493-B744-EC1465CB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857E5E-9981-4795-B1B0-3E1620AD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CF5E27-21FA-419C-8AFB-6E1C9D24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Controlled pilot ≤50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35CDCA-CD7A-425B-8B75-744F302F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0B640B-81D3-4A27-8FB2-A310789B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7C53B7-3758-412B-BC83-F988161E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Evaluate + expand ≤100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D54FD-AA3B-4B70-8BF8-58D8DD1A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SUSTAINABILITY PATH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A3CBEB-9968-4939-9775-A60485CC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59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Open source  ·  Deploy: integration + training  ·  Operate: support + technical ASP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108C95-E3DE-47BE-90E2-02EF68B7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1059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1AAB5"/>
                </a:solidFill>
              </a:defRPr>
            </a:pPr>
            <a:r>
              <a:rPr sz="1275" b="0">
                <a:solidFill>
                  <a:srgbClr val="91AAB5"/>
                </a:solidFill>
              </a:rPr>
              <a:t>Institution pays · No beneficiary fee · No current revenue. Funded year tests demand and cost to serve.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11048084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5 / 9</a:t>
            </a:r>
          </a:p>
        </p:txBody>
      </p:sp>
      <p:sp xmlns:a="http://schemas.openxmlformats.org/drawingml/2006/main" xmlns:r="http://schemas.openxmlformats.org/officeDocument/2006/relationships">
        <p:nvSpPr>
          <p:cNvPr id="300" name="title"/>
          <p:cNvSpPr>
            <a:spLocks noGrp="1"/>
          </p:cNvSpPr>
          <p:nvPr/>
        </p:nvSpPr>
        <p:spPr>
          <a:xfrm>
            <a:off x="800100" y="758952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Three layers do the work — all of them public.</a:t>
            </a:r>
          </a:p>
        </p:txBody>
      </p:sp>
      <p:sp xmlns:a="http://schemas.openxmlformats.org/drawingml/2006/main" xmlns:r="http://schemas.openxmlformats.org/officeDocument/2006/relationships">
        <p:nvSpPr>
          <p:cNvPr id="301" name="sub"/>
          <p:cNvSpPr>
            <a:spLocks noGrp="1"/>
          </p:cNvSpPr>
          <p:nvPr/>
        </p:nvSpPr>
        <p:spPr>
          <a:xfrm>
            <a:off x="800100" y="1417320"/>
            <a:ext cx="10588752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500" b="0">
                <a:solidFill>
                  <a:srgbClr val="D5E6EC"/>
                </a:solidFill>
              </a:rPr>
              <a:t xml:space="preserve">Keys and proofs stay in the browser. The backend coordinates but never custodies. Settlement is on public contracts.</a:t>
            </a:r>
          </a:p>
        </p:txBody>
      </p:sp>
      <p:sp xmlns:a="http://schemas.openxmlformats.org/drawingml/2006/main">
        <p:nvSpPr>
          <p:cNvPr id="302" name="card"/>
          <p:cNvSpPr>
            <a:spLocks noGrp="1"/>
          </p:cNvSpPr>
          <p:nvPr/>
        </p:nvSpPr>
        <p:spPr>
          <a:xfrm>
            <a:off x="800100" y="2057400"/>
            <a:ext cx="10588752" cy="269748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310" name="num"/>
          <p:cNvSpPr>
            <a:spLocks noGrp="1"/>
          </p:cNvSpPr>
          <p:nvPr/>
        </p:nvSpPr>
        <p:spPr>
          <a:xfrm>
            <a:off x="1143000" y="2331720"/>
            <a:ext cx="3200400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01</a:t>
            </a:r>
          </a:p>
        </p:txBody>
      </p:sp>
      <p:sp xmlns:a="http://schemas.openxmlformats.org/drawingml/2006/main" xmlns:r="http://schemas.openxmlformats.org/officeDocument/2006/relationships">
        <p:nvSpPr>
          <p:cNvPr id="311" name="hdr"/>
          <p:cNvSpPr>
            <a:spLocks noGrp="1"/>
          </p:cNvSpPr>
          <p:nvPr/>
        </p:nvSpPr>
        <p:spPr>
          <a:xfrm>
            <a:off x="1143000" y="2761488"/>
            <a:ext cx="32918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800" b="1">
                <a:solidFill>
                  <a:srgbClr val="FFFFFF"/>
                </a:solidFill>
              </a:rPr>
              <a:t xml:space="preserve">Client (browser)</a:t>
            </a:r>
          </a:p>
        </p:txBody>
      </p:sp>
      <p:sp xmlns:a="http://schemas.openxmlformats.org/drawingml/2006/main" xmlns:r="http://schemas.openxmlformats.org/officeDocument/2006/relationships">
        <p:nvSpPr>
          <p:cNvPr id="312" name="items"/>
          <p:cNvSpPr>
            <a:spLocks noGrp="1"/>
          </p:cNvSpPr>
          <p:nvPr/>
        </p:nvSpPr>
        <p:spPr>
          <a:xfrm>
            <a:off x="1143000" y="3429000"/>
            <a:ext cx="3246120" cy="11887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0">
                <a:solidFill>
                  <a:srgbClr val="D5E6EC"/>
                </a:solidFill>
              </a:rPr>
              <a:t xml:space="preserve">Stealth keys — EIP-5564, per-Port isolation</a:t>
            </a:r>
          </a:p>
          <a:p>
            <a:pPr algn="l">
              <a:spcBef>
                <a:spcPts val="700"/>
              </a:spcBef>
            </a:pPr>
            <a:r>
              <a:rPr sz="1200" b="0">
                <a:solidFill>
                  <a:srgbClr val="D5E6EC"/>
                </a:solidFill>
              </a:rPr>
              <a:t xml:space="preserve">In-browser Groth16 proof (snarkjs)</a:t>
            </a:r>
          </a:p>
          <a:p>
            <a:pPr algn="l">
              <a:spcBef>
                <a:spcPts val="700"/>
              </a:spcBef>
            </a:pPr>
            <a:r>
              <a:rPr sz="1200" b="0">
                <a:solidFill>
                  <a:srgbClr val="D5E6EC"/>
                </a:solidFill>
              </a:rPr>
              <a:t xml:space="preserve">Spending keys never stored</a:t>
            </a:r>
          </a:p>
        </p:txBody>
      </p:sp>
      <p:sp xmlns:a="http://schemas.openxmlformats.org/drawingml/2006/main">
        <p:nvSpPr>
          <p:cNvPr id="313" name="rule"/>
          <p:cNvSpPr>
            <a:spLocks noGrp="1"/>
          </p:cNvSpPr>
          <p:nvPr/>
        </p:nvSpPr>
        <p:spPr>
          <a:xfrm>
            <a:off x="4370832" y="2395728"/>
            <a:ext cx="9510" cy="173736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314" name="num"/>
          <p:cNvSpPr>
            <a:spLocks noGrp="1"/>
          </p:cNvSpPr>
          <p:nvPr/>
        </p:nvSpPr>
        <p:spPr>
          <a:xfrm>
            <a:off x="4690872" y="2331720"/>
            <a:ext cx="3200400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02</a:t>
            </a:r>
          </a:p>
        </p:txBody>
      </p:sp>
      <p:sp xmlns:a="http://schemas.openxmlformats.org/drawingml/2006/main" xmlns:r="http://schemas.openxmlformats.org/officeDocument/2006/relationships">
        <p:nvSpPr>
          <p:cNvPr id="315" name="hdr"/>
          <p:cNvSpPr>
            <a:spLocks noGrp="1"/>
          </p:cNvSpPr>
          <p:nvPr/>
        </p:nvSpPr>
        <p:spPr>
          <a:xfrm>
            <a:off x="4690872" y="2761488"/>
            <a:ext cx="32918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800" b="1">
                <a:solidFill>
                  <a:srgbClr val="FFFFFF"/>
                </a:solidFill>
              </a:rPr>
              <a:t xml:space="preserve">Backend (AdonisJS)</a:t>
            </a:r>
          </a:p>
        </p:txBody>
      </p:sp>
      <p:sp xmlns:a="http://schemas.openxmlformats.org/drawingml/2006/main" xmlns:r="http://schemas.openxmlformats.org/officeDocument/2006/relationships">
        <p:nvSpPr>
          <p:cNvPr id="316" name="items"/>
          <p:cNvSpPr>
            <a:spLocks noGrp="1"/>
          </p:cNvSpPr>
          <p:nvPr/>
        </p:nvSpPr>
        <p:spPr>
          <a:xfrm>
            <a:off x="4690872" y="3429000"/>
            <a:ext cx="3246120" cy="11887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0">
                <a:solidFill>
                  <a:srgbClr val="D5E6EC"/>
                </a:solidFill>
              </a:rPr>
              <a:t xml:space="preserve">SIWE auth · Ports &amp; receipts</a:t>
            </a:r>
          </a:p>
          <a:p>
            <a:pPr algn="l">
              <a:spcBef>
                <a:spcPts val="700"/>
              </a:spcBef>
            </a:pPr>
            <a:r>
              <a:rPr sz="1200" b="0">
                <a:solidFill>
                  <a:srgbClr val="D5E6EC"/>
                </a:solidFill>
              </a:rPr>
              <a:t xml:space="preserve">ASP root publisher</a:t>
            </a:r>
          </a:p>
          <a:p>
            <a:pPr algn="l">
              <a:spcBef>
                <a:spcPts val="700"/>
              </a:spcBef>
            </a:pPr>
            <a:r>
              <a:rPr sz="1200" b="0">
                <a:solidFill>
                  <a:srgbClr val="D5E6EC"/>
                </a:solidFill>
              </a:rPr>
              <a:t xml:space="preserve">Fee-capped relayer — no custody</a:t>
            </a:r>
          </a:p>
        </p:txBody>
      </p:sp>
      <p:sp xmlns:a="http://schemas.openxmlformats.org/drawingml/2006/main">
        <p:nvSpPr>
          <p:cNvPr id="317" name="rule"/>
          <p:cNvSpPr>
            <a:spLocks noGrp="1"/>
          </p:cNvSpPr>
          <p:nvPr/>
        </p:nvSpPr>
        <p:spPr>
          <a:xfrm>
            <a:off x="7918704" y="2395728"/>
            <a:ext cx="9510" cy="173736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318" name="num"/>
          <p:cNvSpPr>
            <a:spLocks noGrp="1"/>
          </p:cNvSpPr>
          <p:nvPr/>
        </p:nvSpPr>
        <p:spPr>
          <a:xfrm>
            <a:off x="8229600" y="2331720"/>
            <a:ext cx="3200400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03</a:t>
            </a:r>
          </a:p>
        </p:txBody>
      </p:sp>
      <p:sp xmlns:a="http://schemas.openxmlformats.org/drawingml/2006/main" xmlns:r="http://schemas.openxmlformats.org/officeDocument/2006/relationships">
        <p:nvSpPr>
          <p:cNvPr id="319" name="hdr"/>
          <p:cNvSpPr>
            <a:spLocks noGrp="1"/>
          </p:cNvSpPr>
          <p:nvPr/>
        </p:nvSpPr>
        <p:spPr>
          <a:xfrm>
            <a:off x="8229600" y="2761488"/>
            <a:ext cx="32918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800" b="1">
                <a:solidFill>
                  <a:srgbClr val="FFFFFF"/>
                </a:solidFill>
              </a:rPr>
              <a:t xml:space="preserve">Chain + indexer</a:t>
            </a:r>
          </a:p>
        </p:txBody>
      </p:sp>
      <p:sp xmlns:a="http://schemas.openxmlformats.org/drawingml/2006/main" xmlns:r="http://schemas.openxmlformats.org/officeDocument/2006/relationships">
        <p:nvSpPr>
          <p:cNvPr id="320" name="items"/>
          <p:cNvSpPr>
            <a:spLocks noGrp="1"/>
          </p:cNvSpPr>
          <p:nvPr/>
        </p:nvSpPr>
        <p:spPr>
          <a:xfrm>
            <a:off x="8229600" y="3429000"/>
            <a:ext cx="3246120" cy="11887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0">
                <a:solidFill>
                  <a:srgbClr val="D5E6EC"/>
                </a:solidFill>
              </a:rPr>
              <a:t xml:space="preserve">Entrypoint · Privacy Pool</a:t>
            </a:r>
          </a:p>
          <a:p>
            <a:pPr algn="l">
              <a:spcBef>
                <a:spcPts val="700"/>
              </a:spcBef>
            </a:pPr>
            <a:r>
              <a:rPr sz="1200" b="0">
                <a:solidFill>
                  <a:srgbClr val="D5E6EC"/>
                </a:solidFill>
              </a:rPr>
              <a:t xml:space="preserve">Registry · Announcer · 3 verifiers</a:t>
            </a:r>
          </a:p>
          <a:p>
            <a:pPr algn="l">
              <a:spcBef>
                <a:spcPts val="700"/>
              </a:spcBef>
            </a:pPr>
            <a:r>
              <a:rPr sz="1200" b="0">
                <a:solidFill>
                  <a:srgbClr val="D5E6EC"/>
                </a:solidFill>
              </a:rPr>
              <a:t xml:space="preserve">Ponder indexer → REST API</a:t>
            </a:r>
          </a:p>
        </p:txBody>
      </p:sp>
      <p:sp xmlns:a="http://schemas.openxmlformats.org/drawingml/2006/main" xmlns:r="http://schemas.openxmlformats.org/officeDocument/2006/relationships">
        <p:nvSpPr>
          <p:cNvPr id="360" name="tbl"/>
          <p:cNvSpPr>
            <a:spLocks noGrp="1"/>
          </p:cNvSpPr>
          <p:nvPr/>
        </p:nvSpPr>
        <p:spPr>
          <a:xfrm>
            <a:off x="800100" y="4937760"/>
            <a:ext cx="36576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TRUST BOUNDARY</a:t>
            </a:r>
          </a:p>
        </p:txBody>
      </p:sp>
      <p:sp xmlns:a="http://schemas.openxmlformats.org/drawingml/2006/main" xmlns:r="http://schemas.openxmlformats.org/officeDocument/2006/relationships">
        <p:nvSpPr>
          <p:cNvPr id="361" name="tbt"/>
          <p:cNvSpPr>
            <a:spLocks noGrp="1"/>
          </p:cNvSpPr>
          <p:nvPr/>
        </p:nvSpPr>
        <p:spPr>
          <a:xfrm>
            <a:off x="800100" y="5230368"/>
            <a:ext cx="10588752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0">
                <a:solidFill>
                  <a:srgbClr val="FFFFFF"/>
                </a:solidFill>
              </a:rPr>
              <a:t xml:space="preserve">The backend can see inbound payments; it can never move funds. Spending authority stays client-side.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2026-07-22T01:27:59.5840000Z</dcterms:created>
  <dcterms:modified xsi:type="dcterms:W3CDTF">2026-07-22T01:27:59.5840000Z</dcterms:modified>
</coreProperties>
</file>